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43A"/>
        </a:solidFill>
      </p:bgPr>
    </p:bg>
    <p:spTree>
      <p:nvGrpSpPr>
        <p:cNvPr id="1" name=""/>
        <p:cNvGrpSpPr/>
        <p:nvPr/>
      </p:nvGrpSpPr>
      <p:grpSpPr>
        <a:xfrm>
          <a:off x="0" y="0"/>
          <a:ext cx="0" cy="0"/>
          <a:chOff x="0" y="0"/>
          <a:chExt cx="0" cy="0"/>
        </a:xfrm>
      </p:grpSpPr>
      <p:sp>
        <p:nvSpPr>
          <p:cNvPr id="2" name="Text 0"/>
          <p:cNvSpPr txBox="1"/>
          <p:nvPr/>
        </p:nvSpPr>
        <p:spPr>
          <a:xfrm>
            <a:off x="640080" y="2103120"/>
            <a:ext cx="9509760" cy="14630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Rooftop solar:
which customers, and how big</a:t>
            </a:r>
            <a:endParaRPr lang="en-US" sz="4000" dirty="0"/>
          </a:p>
        </p:txBody>
      </p:sp>
      <p:sp>
        <p:nvSpPr>
          <p:cNvPr id="3" name="Text 1"/>
          <p:cNvSpPr txBox="1"/>
          <p:nvPr/>
        </p:nvSpPr>
        <p:spPr>
          <a:xfrm>
            <a:off x="640080" y="3611880"/>
            <a:ext cx="8686800" cy="822960"/>
          </a:xfrm>
          <a:prstGeom prst="rect">
            <a:avLst/>
          </a:prstGeom>
          <a:noFill/>
          <a:ln/>
        </p:spPr>
        <p:txBody>
          <a:bodyPr wrap="square" lIns="0" tIns="0" rIns="0" bIns="0" rtlCol="0" anchor="ctr"/>
          <a:lstStyle/>
          <a:p>
            <a:pPr indent="0" marL="0">
              <a:buNone/>
            </a:pPr>
            <a:r>
              <a:rPr lang="en-US" sz="1600" dirty="0">
                <a:solidFill>
                  <a:srgbClr val="9FB3C8"/>
                </a:solidFill>
                <a:latin typeface="Calibri" pitchFamily="34" charset="0"/>
                <a:ea typeface="Calibri" pitchFamily="34" charset="-122"/>
                <a:cs typeface="Calibri" pitchFamily="34" charset="-120"/>
              </a:rPr>
              <a:t>The load profile does not decide whether a business should install solar. It decides how large a system it can absorb before the surplus stops paying for itself.</a:t>
            </a:r>
            <a:endParaRPr lang="en-US" sz="1600" dirty="0"/>
          </a:p>
        </p:txBody>
      </p:sp>
      <p:sp>
        <p:nvSpPr>
          <p:cNvPr id="4" name="Text 2"/>
          <p:cNvSpPr txBox="1"/>
          <p:nvPr/>
        </p:nvSpPr>
        <p:spPr>
          <a:xfrm>
            <a:off x="640080" y="5943600"/>
            <a:ext cx="7772400" cy="365760"/>
          </a:xfrm>
          <a:prstGeom prst="rect">
            <a:avLst/>
          </a:prstGeom>
          <a:noFill/>
          <a:ln/>
        </p:spPr>
        <p:txBody>
          <a:bodyPr wrap="square" lIns="0" tIns="0" rIns="0" bIns="0" rtlCol="0" anchor="ctr"/>
          <a:lstStyle/>
          <a:p>
            <a:pPr indent="0" marL="0">
              <a:buNone/>
            </a:pPr>
            <a:r>
              <a:rPr lang="en-US" sz="1200" dirty="0">
                <a:solidFill>
                  <a:srgbClr val="9FB3C8"/>
                </a:solidFill>
                <a:latin typeface="Calibri" pitchFamily="34" charset="0"/>
                <a:ea typeface="Calibri" pitchFamily="34" charset="-122"/>
                <a:cs typeface="Calibri" pitchFamily="34" charset="-120"/>
              </a:rPr>
              <a:t>Hourly generation: PVGIS (European Commission JRC), 2023. Wholesale prices: Fraunhofer ISE. Retail price: Eurostat.</a:t>
            </a:r>
            <a:endParaRPr lang="en-US" sz="1200" dirty="0"/>
          </a:p>
        </p:txBody>
      </p:sp>
      <p:sp>
        <p:nvSpPr>
          <p:cNvPr id="5" name="Text 3"/>
          <p:cNvSpPr txBox="1"/>
          <p:nvPr/>
        </p:nvSpPr>
        <p:spPr>
          <a:xfrm>
            <a:off x="7863840" y="5943600"/>
            <a:ext cx="3657600" cy="36576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Generated 20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000" b="1" dirty="0">
                <a:solidFill>
                  <a:srgbClr val="12243A"/>
                </a:solidFill>
                <a:latin typeface="Cambria" pitchFamily="34" charset="0"/>
                <a:ea typeface="Cambria" pitchFamily="34" charset="-122"/>
                <a:cs typeface="Cambria" pitchFamily="34" charset="-120"/>
              </a:rPr>
              <a:t>A kilowatt-hour used on site is worth three sold</a:t>
            </a:r>
            <a:endParaRPr lang="en-US" sz="3000" dirty="0"/>
          </a:p>
        </p:txBody>
      </p:sp>
      <p:sp>
        <p:nvSpPr>
          <p:cNvPr id="3" name="Text 1"/>
          <p:cNvSpPr txBox="1"/>
          <p:nvPr/>
        </p:nvSpPr>
        <p:spPr>
          <a:xfrm>
            <a:off x="640080" y="1133856"/>
            <a:ext cx="10881360" cy="365760"/>
          </a:xfrm>
          <a:prstGeom prst="rect">
            <a:avLst/>
          </a:prstGeom>
          <a:noFill/>
          <a:ln/>
        </p:spPr>
        <p:txBody>
          <a:bodyPr wrap="square" lIns="0" tIns="0" rIns="0" bIns="0" rtlCol="0" anchor="ctr"/>
          <a:lstStyle/>
          <a:p>
            <a:pPr indent="0" marL="0">
              <a:buNone/>
            </a:pPr>
            <a:r>
              <a:rPr lang="en-US" sz="1400" dirty="0">
                <a:solidFill>
                  <a:srgbClr val="43525F"/>
                </a:solidFill>
                <a:latin typeface="Calibri" pitchFamily="34" charset="0"/>
                <a:ea typeface="Calibri" pitchFamily="34" charset="-122"/>
                <a:cs typeface="Calibri" pitchFamily="34" charset="-120"/>
              </a:rPr>
              <a:t>A 2,000 MWh/year site in Plzeň, roof-mounted system facing south.</a:t>
            </a:r>
            <a:endParaRPr lang="en-US" sz="1400" dirty="0"/>
          </a:p>
        </p:txBody>
      </p:sp>
      <p:sp>
        <p:nvSpPr>
          <p:cNvPr id="4" name="Shape 2"/>
          <p:cNvSpPr/>
          <p:nvPr/>
        </p:nvSpPr>
        <p:spPr>
          <a:xfrm>
            <a:off x="640080" y="1691640"/>
            <a:ext cx="2688336" cy="1600200"/>
          </a:xfrm>
          <a:prstGeom prst="roundRect">
            <a:avLst>
              <a:gd name="adj" fmla="val 4571"/>
            </a:avLst>
          </a:prstGeom>
          <a:solidFill>
            <a:srgbClr val="F2F5F8"/>
          </a:solidFill>
          <a:ln w="12700">
            <a:solidFill>
              <a:srgbClr val="DDE3E9"/>
            </a:solidFill>
            <a:prstDash val="solid"/>
          </a:ln>
        </p:spPr>
        <p:txBody>
          <a:bodyPr/>
          <a:p/>
        </p:txBody>
      </p:sp>
      <p:sp>
        <p:nvSpPr>
          <p:cNvPr id="5" name="Text 3"/>
          <p:cNvSpPr txBox="1"/>
          <p:nvPr/>
        </p:nvSpPr>
        <p:spPr>
          <a:xfrm>
            <a:off x="841248" y="1847088"/>
            <a:ext cx="2286000" cy="457200"/>
          </a:xfrm>
          <a:prstGeom prst="rect">
            <a:avLst/>
          </a:prstGeom>
          <a:noFill/>
          <a:ln/>
        </p:spPr>
        <p:txBody>
          <a:bodyPr wrap="square" lIns="0" tIns="0" rIns="0" bIns="0" rtlCol="0" anchor="ctr"/>
          <a:lstStyle/>
          <a:p>
            <a:pPr indent="0" marL="0">
              <a:buNone/>
            </a:pPr>
            <a:r>
              <a:rPr lang="en-US" sz="1150" dirty="0">
                <a:solidFill>
                  <a:srgbClr val="43525F"/>
                </a:solidFill>
                <a:latin typeface="Calibri" pitchFamily="34" charset="0"/>
                <a:ea typeface="Calibri" pitchFamily="34" charset="-122"/>
                <a:cs typeface="Calibri" pitchFamily="34" charset="-120"/>
              </a:rPr>
              <a:t>SELF-CONSUMED vs EXPORTED kWh</a:t>
            </a:r>
            <a:endParaRPr lang="en-US" sz="1150" dirty="0"/>
          </a:p>
        </p:txBody>
      </p:sp>
      <p:sp>
        <p:nvSpPr>
          <p:cNvPr id="6" name="Text 4"/>
          <p:cNvSpPr txBox="1"/>
          <p:nvPr/>
        </p:nvSpPr>
        <p:spPr>
          <a:xfrm>
            <a:off x="841248" y="2286000"/>
            <a:ext cx="2286000" cy="548640"/>
          </a:xfrm>
          <a:prstGeom prst="rect">
            <a:avLst/>
          </a:prstGeom>
          <a:noFill/>
          <a:ln/>
        </p:spPr>
        <p:txBody>
          <a:bodyPr wrap="square" lIns="0" tIns="0" rIns="0" bIns="0" rtlCol="0" anchor="ctr"/>
          <a:lstStyle/>
          <a:p>
            <a:pPr indent="0" marL="0">
              <a:buNone/>
            </a:pPr>
            <a:r>
              <a:rPr lang="en-US" sz="2600" b="1" dirty="0">
                <a:solidFill>
                  <a:srgbClr val="12243A"/>
                </a:solidFill>
                <a:latin typeface="Cambria" pitchFamily="34" charset="0"/>
                <a:ea typeface="Cambria" pitchFamily="34" charset="-122"/>
                <a:cs typeface="Cambria" pitchFamily="34" charset="-120"/>
              </a:rPr>
              <a:t>3.4x</a:t>
            </a:r>
            <a:endParaRPr lang="en-US" sz="2600" dirty="0"/>
          </a:p>
        </p:txBody>
      </p:sp>
      <p:sp>
        <p:nvSpPr>
          <p:cNvPr id="7" name="Text 5"/>
          <p:cNvSpPr txBox="1"/>
          <p:nvPr/>
        </p:nvSpPr>
        <p:spPr>
          <a:xfrm>
            <a:off x="841248" y="2816352"/>
            <a:ext cx="2286000" cy="411480"/>
          </a:xfrm>
          <a:prstGeom prst="rect">
            <a:avLst/>
          </a:prstGeom>
          <a:noFill/>
          <a:ln/>
        </p:spPr>
        <p:txBody>
          <a:bodyPr wrap="square" lIns="0" tIns="0" rIns="0" bIns="0" rtlCol="0" anchor="ctr"/>
          <a:lstStyle/>
          <a:p>
            <a:pPr indent="0" marL="0">
              <a:buNone/>
            </a:pPr>
            <a:r>
              <a:rPr lang="en-US" sz="1100" dirty="0">
                <a:solidFill>
                  <a:srgbClr val="43525F"/>
                </a:solidFill>
                <a:latin typeface="Calibri" pitchFamily="34" charset="0"/>
                <a:ea typeface="Calibri" pitchFamily="34" charset="-122"/>
                <a:cs typeface="Calibri" pitchFamily="34" charset="-120"/>
              </a:rPr>
              <a:t>0.128 EUR/kWh avoided against 0.038 earned</a:t>
            </a:r>
            <a:endParaRPr lang="en-US" sz="1100" dirty="0"/>
          </a:p>
        </p:txBody>
      </p:sp>
      <p:sp>
        <p:nvSpPr>
          <p:cNvPr id="8" name="Shape 6"/>
          <p:cNvSpPr/>
          <p:nvPr/>
        </p:nvSpPr>
        <p:spPr>
          <a:xfrm>
            <a:off x="3584448" y="1691640"/>
            <a:ext cx="2688336" cy="1600200"/>
          </a:xfrm>
          <a:prstGeom prst="roundRect">
            <a:avLst>
              <a:gd name="adj" fmla="val 4571"/>
            </a:avLst>
          </a:prstGeom>
          <a:solidFill>
            <a:srgbClr val="F2F5F8"/>
          </a:solidFill>
          <a:ln w="12700">
            <a:solidFill>
              <a:srgbClr val="DDE3E9"/>
            </a:solidFill>
            <a:prstDash val="solid"/>
          </a:ln>
        </p:spPr>
        <p:txBody>
          <a:bodyPr/>
          <a:p/>
        </p:txBody>
      </p:sp>
      <p:sp>
        <p:nvSpPr>
          <p:cNvPr id="9" name="Text 7"/>
          <p:cNvSpPr txBox="1"/>
          <p:nvPr/>
        </p:nvSpPr>
        <p:spPr>
          <a:xfrm>
            <a:off x="3785616" y="1847088"/>
            <a:ext cx="2286000" cy="457200"/>
          </a:xfrm>
          <a:prstGeom prst="rect">
            <a:avLst/>
          </a:prstGeom>
          <a:noFill/>
          <a:ln/>
        </p:spPr>
        <p:txBody>
          <a:bodyPr wrap="square" lIns="0" tIns="0" rIns="0" bIns="0" rtlCol="0" anchor="ctr"/>
          <a:lstStyle/>
          <a:p>
            <a:pPr indent="0" marL="0">
              <a:buNone/>
            </a:pPr>
            <a:r>
              <a:rPr lang="en-US" sz="1150" dirty="0">
                <a:solidFill>
                  <a:srgbClr val="43525F"/>
                </a:solidFill>
                <a:latin typeface="Calibri" pitchFamily="34" charset="0"/>
                <a:ea typeface="Calibri" pitchFamily="34" charset="-122"/>
                <a:cs typeface="Calibri" pitchFamily="34" charset="-120"/>
              </a:rPr>
              <a:t>PROFILE SPREAD AT A 10% SYSTEM</a:t>
            </a:r>
            <a:endParaRPr lang="en-US" sz="1150" dirty="0"/>
          </a:p>
        </p:txBody>
      </p:sp>
      <p:sp>
        <p:nvSpPr>
          <p:cNvPr id="10" name="Text 8"/>
          <p:cNvSpPr txBox="1"/>
          <p:nvPr/>
        </p:nvSpPr>
        <p:spPr>
          <a:xfrm>
            <a:off x="3785616" y="2286000"/>
            <a:ext cx="2286000" cy="548640"/>
          </a:xfrm>
          <a:prstGeom prst="rect">
            <a:avLst/>
          </a:prstGeom>
          <a:noFill/>
          <a:ln/>
        </p:spPr>
        <p:txBody>
          <a:bodyPr wrap="square" lIns="0" tIns="0" rIns="0" bIns="0" rtlCol="0" anchor="ctr"/>
          <a:lstStyle/>
          <a:p>
            <a:pPr indent="0" marL="0">
              <a:buNone/>
            </a:pPr>
            <a:r>
              <a:rPr lang="en-US" sz="2600" b="1" dirty="0">
                <a:solidFill>
                  <a:srgbClr val="12243A"/>
                </a:solidFill>
                <a:latin typeface="Cambria" pitchFamily="34" charset="0"/>
                <a:ea typeface="Cambria" pitchFamily="34" charset="-122"/>
                <a:cs typeface="Cambria" pitchFamily="34" charset="-120"/>
              </a:rPr>
              <a:t>5 pts</a:t>
            </a:r>
            <a:endParaRPr lang="en-US" sz="2600" dirty="0"/>
          </a:p>
        </p:txBody>
      </p:sp>
      <p:sp>
        <p:nvSpPr>
          <p:cNvPr id="11" name="Text 9"/>
          <p:cNvSpPr txBox="1"/>
          <p:nvPr/>
        </p:nvSpPr>
        <p:spPr>
          <a:xfrm>
            <a:off x="3785616" y="2816352"/>
            <a:ext cx="2286000" cy="411480"/>
          </a:xfrm>
          <a:prstGeom prst="rect">
            <a:avLst/>
          </a:prstGeom>
          <a:noFill/>
          <a:ln/>
        </p:spPr>
        <p:txBody>
          <a:bodyPr wrap="square" lIns="0" tIns="0" rIns="0" bIns="0" rtlCol="0" anchor="ctr"/>
          <a:lstStyle/>
          <a:p>
            <a:pPr indent="0" marL="0">
              <a:buNone/>
            </a:pPr>
            <a:r>
              <a:rPr lang="en-US" sz="1100" dirty="0">
                <a:solidFill>
                  <a:srgbClr val="43525F"/>
                </a:solidFill>
                <a:latin typeface="Calibri" pitchFamily="34" charset="0"/>
                <a:ea typeface="Calibri" pitchFamily="34" charset="-122"/>
                <a:cs typeface="Calibri" pitchFamily="34" charset="-120"/>
              </a:rPr>
              <a:t>at this size the profile barely matters</a:t>
            </a:r>
            <a:endParaRPr lang="en-US" sz="1100" dirty="0"/>
          </a:p>
        </p:txBody>
      </p:sp>
      <p:sp>
        <p:nvSpPr>
          <p:cNvPr id="12" name="Shape 10"/>
          <p:cNvSpPr/>
          <p:nvPr/>
        </p:nvSpPr>
        <p:spPr>
          <a:xfrm>
            <a:off x="6528816" y="1691640"/>
            <a:ext cx="2688336" cy="1600200"/>
          </a:xfrm>
          <a:prstGeom prst="roundRect">
            <a:avLst>
              <a:gd name="adj" fmla="val 4571"/>
            </a:avLst>
          </a:prstGeom>
          <a:solidFill>
            <a:srgbClr val="F2F5F8"/>
          </a:solidFill>
          <a:ln w="12700">
            <a:solidFill>
              <a:srgbClr val="DDE3E9"/>
            </a:solidFill>
            <a:prstDash val="solid"/>
          </a:ln>
        </p:spPr>
        <p:txBody>
          <a:bodyPr/>
          <a:p/>
        </p:txBody>
      </p:sp>
      <p:sp>
        <p:nvSpPr>
          <p:cNvPr id="13" name="Text 11"/>
          <p:cNvSpPr txBox="1"/>
          <p:nvPr/>
        </p:nvSpPr>
        <p:spPr>
          <a:xfrm>
            <a:off x="6729984" y="1847088"/>
            <a:ext cx="2286000" cy="457200"/>
          </a:xfrm>
          <a:prstGeom prst="rect">
            <a:avLst/>
          </a:prstGeom>
          <a:noFill/>
          <a:ln/>
        </p:spPr>
        <p:txBody>
          <a:bodyPr wrap="square" lIns="0" tIns="0" rIns="0" bIns="0" rtlCol="0" anchor="ctr"/>
          <a:lstStyle/>
          <a:p>
            <a:pPr indent="0" marL="0">
              <a:buNone/>
            </a:pPr>
            <a:r>
              <a:rPr lang="en-US" sz="1150" dirty="0">
                <a:solidFill>
                  <a:srgbClr val="43525F"/>
                </a:solidFill>
                <a:latin typeface="Calibri" pitchFamily="34" charset="0"/>
                <a:ea typeface="Calibri" pitchFamily="34" charset="-122"/>
                <a:cs typeface="Calibri" pitchFamily="34" charset="-120"/>
              </a:rPr>
              <a:t>AT A 60% SYSTEM</a:t>
            </a:r>
            <a:endParaRPr lang="en-US" sz="1150" dirty="0"/>
          </a:p>
        </p:txBody>
      </p:sp>
      <p:sp>
        <p:nvSpPr>
          <p:cNvPr id="14" name="Text 12"/>
          <p:cNvSpPr txBox="1"/>
          <p:nvPr/>
        </p:nvSpPr>
        <p:spPr>
          <a:xfrm>
            <a:off x="6729984" y="2286000"/>
            <a:ext cx="2286000" cy="548640"/>
          </a:xfrm>
          <a:prstGeom prst="rect">
            <a:avLst/>
          </a:prstGeom>
          <a:noFill/>
          <a:ln/>
        </p:spPr>
        <p:txBody>
          <a:bodyPr wrap="square" lIns="0" tIns="0" rIns="0" bIns="0" rtlCol="0" anchor="ctr"/>
          <a:lstStyle/>
          <a:p>
            <a:pPr indent="0" marL="0">
              <a:buNone/>
            </a:pPr>
            <a:r>
              <a:rPr lang="en-US" sz="2600" b="1" dirty="0">
                <a:solidFill>
                  <a:srgbClr val="12243A"/>
                </a:solidFill>
                <a:latin typeface="Cambria" pitchFamily="34" charset="0"/>
                <a:ea typeface="Cambria" pitchFamily="34" charset="-122"/>
                <a:cs typeface="Cambria" pitchFamily="34" charset="-120"/>
              </a:rPr>
              <a:t>30 pts</a:t>
            </a:r>
            <a:endParaRPr lang="en-US" sz="2600" dirty="0"/>
          </a:p>
        </p:txBody>
      </p:sp>
      <p:sp>
        <p:nvSpPr>
          <p:cNvPr id="15" name="Text 13"/>
          <p:cNvSpPr txBox="1"/>
          <p:nvPr/>
        </p:nvSpPr>
        <p:spPr>
          <a:xfrm>
            <a:off x="6729984" y="2816352"/>
            <a:ext cx="2286000" cy="411480"/>
          </a:xfrm>
          <a:prstGeom prst="rect">
            <a:avLst/>
          </a:prstGeom>
          <a:noFill/>
          <a:ln/>
        </p:spPr>
        <p:txBody>
          <a:bodyPr wrap="square" lIns="0" tIns="0" rIns="0" bIns="0" rtlCol="0" anchor="ctr"/>
          <a:lstStyle/>
          <a:p>
            <a:pPr indent="0" marL="0">
              <a:buNone/>
            </a:pPr>
            <a:r>
              <a:rPr lang="en-US" sz="1100" dirty="0">
                <a:solidFill>
                  <a:srgbClr val="43525F"/>
                </a:solidFill>
                <a:latin typeface="Calibri" pitchFamily="34" charset="0"/>
                <a:ea typeface="Calibri" pitchFamily="34" charset="-122"/>
                <a:cs typeface="Calibri" pitchFamily="34" charset="-120"/>
              </a:rPr>
              <a:t>at this size it decides the project</a:t>
            </a:r>
            <a:endParaRPr lang="en-US" sz="1100" dirty="0"/>
          </a:p>
        </p:txBody>
      </p:sp>
      <p:sp>
        <p:nvSpPr>
          <p:cNvPr id="16" name="Shape 14"/>
          <p:cNvSpPr/>
          <p:nvPr/>
        </p:nvSpPr>
        <p:spPr>
          <a:xfrm>
            <a:off x="9473184" y="1691640"/>
            <a:ext cx="2688336" cy="1600200"/>
          </a:xfrm>
          <a:prstGeom prst="roundRect">
            <a:avLst>
              <a:gd name="adj" fmla="val 4571"/>
            </a:avLst>
          </a:prstGeom>
          <a:solidFill>
            <a:srgbClr val="F2F5F8"/>
          </a:solidFill>
          <a:ln w="12700">
            <a:solidFill>
              <a:srgbClr val="DDE3E9"/>
            </a:solidFill>
            <a:prstDash val="solid"/>
          </a:ln>
        </p:spPr>
        <p:txBody>
          <a:bodyPr/>
          <a:p/>
        </p:txBody>
      </p:sp>
      <p:sp>
        <p:nvSpPr>
          <p:cNvPr id="17" name="Text 15"/>
          <p:cNvSpPr txBox="1"/>
          <p:nvPr/>
        </p:nvSpPr>
        <p:spPr>
          <a:xfrm>
            <a:off x="9674352" y="1847088"/>
            <a:ext cx="2286000" cy="457200"/>
          </a:xfrm>
          <a:prstGeom prst="rect">
            <a:avLst/>
          </a:prstGeom>
          <a:noFill/>
          <a:ln/>
        </p:spPr>
        <p:txBody>
          <a:bodyPr wrap="square" lIns="0" tIns="0" rIns="0" bIns="0" rtlCol="0" anchor="ctr"/>
          <a:lstStyle/>
          <a:p>
            <a:pPr indent="0" marL="0">
              <a:buNone/>
            </a:pPr>
            <a:r>
              <a:rPr lang="en-US" sz="1150" dirty="0">
                <a:solidFill>
                  <a:srgbClr val="43525F"/>
                </a:solidFill>
                <a:latin typeface="Calibri" pitchFamily="34" charset="0"/>
                <a:ea typeface="Calibri" pitchFamily="34" charset="-122"/>
                <a:cs typeface="Calibri" pitchFamily="34" charset="-120"/>
              </a:rPr>
              <a:t>SYSTEM SIZE THAT STILL PAYS BACK</a:t>
            </a:r>
            <a:endParaRPr lang="en-US" sz="1150" dirty="0"/>
          </a:p>
        </p:txBody>
      </p:sp>
      <p:sp>
        <p:nvSpPr>
          <p:cNvPr id="18" name="Text 16"/>
          <p:cNvSpPr txBox="1"/>
          <p:nvPr/>
        </p:nvSpPr>
        <p:spPr>
          <a:xfrm>
            <a:off x="9674352" y="2286000"/>
            <a:ext cx="2286000" cy="548640"/>
          </a:xfrm>
          <a:prstGeom prst="rect">
            <a:avLst/>
          </a:prstGeom>
          <a:noFill/>
          <a:ln/>
        </p:spPr>
        <p:txBody>
          <a:bodyPr wrap="square" lIns="0" tIns="0" rIns="0" bIns="0" rtlCol="0" anchor="ctr"/>
          <a:lstStyle/>
          <a:p>
            <a:pPr indent="0" marL="0">
              <a:buNone/>
            </a:pPr>
            <a:r>
              <a:rPr lang="en-US" sz="2600" b="1" dirty="0">
                <a:solidFill>
                  <a:srgbClr val="12243A"/>
                </a:solidFill>
                <a:latin typeface="Cambria" pitchFamily="34" charset="0"/>
                <a:ea typeface="Cambria" pitchFamily="34" charset="-122"/>
                <a:cs typeface="Cambria" pitchFamily="34" charset="-120"/>
              </a:rPr>
              <a:t>1.7x</a:t>
            </a:r>
            <a:endParaRPr lang="en-US" sz="2600" dirty="0"/>
          </a:p>
        </p:txBody>
      </p:sp>
      <p:sp>
        <p:nvSpPr>
          <p:cNvPr id="19" name="Text 17"/>
          <p:cNvSpPr txBox="1"/>
          <p:nvPr/>
        </p:nvSpPr>
        <p:spPr>
          <a:xfrm>
            <a:off x="9674352" y="2816352"/>
            <a:ext cx="2286000" cy="411480"/>
          </a:xfrm>
          <a:prstGeom prst="rect">
            <a:avLst/>
          </a:prstGeom>
          <a:noFill/>
          <a:ln/>
        </p:spPr>
        <p:txBody>
          <a:bodyPr wrap="square" lIns="0" tIns="0" rIns="0" bIns="0" rtlCol="0" anchor="ctr"/>
          <a:lstStyle/>
          <a:p>
            <a:pPr indent="0" marL="0">
              <a:buNone/>
            </a:pPr>
            <a:r>
              <a:rPr lang="en-US" sz="1100" dirty="0">
                <a:solidFill>
                  <a:srgbClr val="43525F"/>
                </a:solidFill>
                <a:latin typeface="Calibri" pitchFamily="34" charset="0"/>
                <a:ea typeface="Calibri" pitchFamily="34" charset="-122"/>
                <a:cs typeface="Calibri" pitchFamily="34" charset="-120"/>
              </a:rPr>
              <a:t>970 kWp for a daytime customer against 582 kWp for a night one</a:t>
            </a:r>
            <a:endParaRPr lang="en-US" sz="1100" dirty="0"/>
          </a:p>
        </p:txBody>
      </p:sp>
      <p:sp>
        <p:nvSpPr>
          <p:cNvPr id="20" name="Text 18"/>
          <p:cNvSpPr txBox="1"/>
          <p:nvPr/>
        </p:nvSpPr>
        <p:spPr>
          <a:xfrm>
            <a:off x="640080" y="3611880"/>
            <a:ext cx="4572000" cy="274320"/>
          </a:xfrm>
          <a:prstGeom prst="rect">
            <a:avLst/>
          </a:prstGeom>
          <a:noFill/>
          <a:ln/>
        </p:spPr>
        <p:txBody>
          <a:bodyPr wrap="square" lIns="0" tIns="0" rIns="0" bIns="0" rtlCol="0" anchor="ctr"/>
          <a:lstStyle/>
          <a:p>
            <a:pPr indent="0" marL="0">
              <a:buNone/>
            </a:pPr>
            <a:r>
              <a:rPr lang="en-US" sz="1150" b="1" dirty="0">
                <a:solidFill>
                  <a:srgbClr val="43525F"/>
                </a:solidFill>
                <a:latin typeface="Calibri" pitchFamily="34" charset="0"/>
                <a:ea typeface="Calibri" pitchFamily="34" charset="-122"/>
                <a:cs typeface="Calibri" pitchFamily="34" charset="-120"/>
              </a:rPr>
              <a:t>THE FINDING</a:t>
            </a:r>
            <a:endParaRPr lang="en-US" sz="1150" dirty="0"/>
          </a:p>
        </p:txBody>
      </p:sp>
      <p:sp>
        <p:nvSpPr>
          <p:cNvPr id="21" name="Text 19"/>
          <p:cNvSpPr txBox="1"/>
          <p:nvPr/>
        </p:nvSpPr>
        <p:spPr>
          <a:xfrm>
            <a:off x="640080" y="3931920"/>
            <a:ext cx="10881360" cy="210312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A kilowatt-hour the site consumes itself replaces one it would have bought at 0.128 EUR/kWh. A kilowatt-hour it exports earns 0.038 — solar generates exactly when wholesale prices are lowest. So the share the site consumes itself decides the investment.
That share depends on when the business runs, not on the roof. Which makes it a sales question: the customer's own metering answers it before anyone visits the site.</a:t>
            </a:r>
            <a:endParaRPr lang="en-US" sz="1500" dirty="0"/>
          </a:p>
        </p:txBody>
      </p:sp>
      <p:sp>
        <p:nvSpPr>
          <p:cNvPr id="22" name="Text 20"/>
          <p:cNvSpPr txBox="1"/>
          <p:nvPr/>
        </p:nvSpPr>
        <p:spPr>
          <a:xfrm>
            <a:off x="640080" y="6400800"/>
            <a:ext cx="9144000" cy="274320"/>
          </a:xfrm>
          <a:prstGeom prst="rect">
            <a:avLst/>
          </a:prstGeom>
          <a:noFill/>
          <a:ln/>
        </p:spPr>
        <p:txBody>
          <a:bodyPr wrap="square" lIns="0" tIns="0" rIns="0" bIns="0" rtlCol="0" anchor="ctr"/>
          <a:lstStyle/>
          <a:p>
            <a:pPr indent="0" marL="0">
              <a:buNone/>
            </a:pPr>
            <a:r>
              <a:rPr lang="en-US" sz="1050" dirty="0">
                <a:solidFill>
                  <a:srgbClr val="43525F"/>
                </a:solidFill>
                <a:latin typeface="Calibri" pitchFamily="34" charset="0"/>
                <a:ea typeface="Calibri" pitchFamily="34" charset="-122"/>
                <a:cs typeface="Calibri" pitchFamily="34" charset="-120"/>
              </a:rPr>
              <a:t>Sources: PVGIS (EC JRC), energy-charts.info (Fraunhofer ISE), Eurostat  |  2023 hourly, 2,000 MWh/year site</a:t>
            </a:r>
            <a:endParaRPr lang="en-US" sz="1050" dirty="0"/>
          </a:p>
        </p:txBody>
      </p:sp>
      <p:sp>
        <p:nvSpPr>
          <p:cNvPr id="23" name="Text 21"/>
          <p:cNvSpPr txBox="1"/>
          <p:nvPr/>
        </p:nvSpPr>
        <p:spPr>
          <a:xfrm>
            <a:off x="10972800" y="6400800"/>
            <a:ext cx="548640" cy="274320"/>
          </a:xfrm>
          <a:prstGeom prst="rect">
            <a:avLst/>
          </a:prstGeom>
          <a:noFill/>
          <a:ln/>
        </p:spPr>
        <p:txBody>
          <a:bodyPr wrap="square" lIns="0" tIns="0" rIns="0" bIns="0" rtlCol="0" anchor="ctr"/>
          <a:lstStyle/>
          <a:p>
            <a:pPr algn="r" indent="0" marL="0">
              <a:buNone/>
            </a:pPr>
            <a:r>
              <a:rPr lang="en-US" sz="1050" dirty="0">
                <a:solidFill>
                  <a:srgbClr val="43525F"/>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000" b="1" dirty="0">
                <a:solidFill>
                  <a:srgbClr val="12243A"/>
                </a:solidFill>
                <a:latin typeface="Cambria" pitchFamily="34" charset="0"/>
                <a:ea typeface="Cambria" pitchFamily="34" charset="-122"/>
                <a:cs typeface="Cambria" pitchFamily="34" charset="-120"/>
              </a:rPr>
              <a:t>One June day, two customers, the same system</a:t>
            </a:r>
            <a:endParaRPr lang="en-US" sz="3000" dirty="0"/>
          </a:p>
        </p:txBody>
      </p:sp>
      <p:sp>
        <p:nvSpPr>
          <p:cNvPr id="3" name="Text 1"/>
          <p:cNvSpPr txBox="1"/>
          <p:nvPr/>
        </p:nvSpPr>
        <p:spPr>
          <a:xfrm>
            <a:off x="640080" y="1133856"/>
            <a:ext cx="10881360" cy="365760"/>
          </a:xfrm>
          <a:prstGeom prst="rect">
            <a:avLst/>
          </a:prstGeom>
          <a:noFill/>
          <a:ln/>
        </p:spPr>
        <p:txBody>
          <a:bodyPr wrap="square" lIns="0" tIns="0" rIns="0" bIns="0" rtlCol="0" anchor="ctr"/>
          <a:lstStyle/>
          <a:p>
            <a:pPr indent="0" marL="0">
              <a:buNone/>
            </a:pPr>
            <a:r>
              <a:rPr lang="en-US" sz="1400" dirty="0">
                <a:solidFill>
                  <a:srgbClr val="43525F"/>
                </a:solidFill>
                <a:latin typeface="Calibri" pitchFamily="34" charset="0"/>
                <a:ea typeface="Calibri" pitchFamily="34" charset="-122"/>
                <a:cs typeface="Calibri" pitchFamily="34" charset="-120"/>
              </a:rPr>
              <a:t>An average June weekday: a 582 kWp system against two customers with identical annual consumption.</a:t>
            </a:r>
            <a:endParaRPr lang="en-US" sz="1400" dirty="0"/>
          </a:p>
        </p:txBody>
      </p:sp>
      <p:sp>
        <p:nvSpPr>
          <p:cNvPr id="6" name="Shape 4"/>
          <p:cNvSpPr/>
          <p:nvPr/>
        </p:nvSpPr>
        <p:spPr>
          <a:xfrm>
            <a:off x="8732520" y="1645920"/>
            <a:ext cx="2788920" cy="4343400"/>
          </a:xfrm>
          <a:prstGeom prst="roundRect">
            <a:avLst>
              <a:gd name="adj" fmla="val 2623"/>
            </a:avLst>
          </a:prstGeom>
          <a:solidFill>
            <a:srgbClr val="F2F5F8"/>
          </a:solidFill>
          <a:ln w="12700">
            <a:solidFill>
              <a:srgbClr val="DDE3E9"/>
            </a:solidFill>
            <a:prstDash val="solid"/>
          </a:ln>
        </p:spPr>
        <p:txBody>
          <a:bodyPr/>
          <a:p/>
        </p:txBody>
      </p:sp>
      <p:sp>
        <p:nvSpPr>
          <p:cNvPr id="7" name="Text 5"/>
          <p:cNvSpPr txBox="1"/>
          <p:nvPr/>
        </p:nvSpPr>
        <p:spPr>
          <a:xfrm>
            <a:off x="8961120" y="1874520"/>
            <a:ext cx="2286000" cy="274320"/>
          </a:xfrm>
          <a:prstGeom prst="rect">
            <a:avLst/>
          </a:prstGeom>
          <a:noFill/>
          <a:ln/>
        </p:spPr>
        <p:txBody>
          <a:bodyPr wrap="square" lIns="0" tIns="0" rIns="0" bIns="0" rtlCol="0" anchor="ctr"/>
          <a:lstStyle/>
          <a:p>
            <a:pPr indent="0" marL="0">
              <a:buNone/>
            </a:pPr>
            <a:r>
              <a:rPr lang="en-US" sz="1150" b="1" dirty="0">
                <a:solidFill>
                  <a:srgbClr val="43525F"/>
                </a:solidFill>
                <a:latin typeface="Calibri" pitchFamily="34" charset="0"/>
                <a:ea typeface="Calibri" pitchFamily="34" charset="-122"/>
                <a:cs typeface="Calibri" pitchFamily="34" charset="-120"/>
              </a:rPr>
              <a:t>WHAT THIS SHOWS</a:t>
            </a:r>
            <a:endParaRPr lang="en-US" sz="1150" dirty="0"/>
          </a:p>
        </p:txBody>
      </p:sp>
      <p:sp>
        <p:nvSpPr>
          <p:cNvPr id="8" name="Text 6"/>
          <p:cNvSpPr txBox="1"/>
          <p:nvPr/>
        </p:nvSpPr>
        <p:spPr>
          <a:xfrm>
            <a:off x="8961120" y="2240280"/>
            <a:ext cx="2286000" cy="352044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The daytime customer's load sits above the generation curve all day, so nothing is exported and every kilowatt-hour is worth the full retail price.
The night-heavy customer draws 162 kW at noon against 286 kW of generation. The difference leaves the site at the wholesale price — or at nothing, when that price is negative.</a:t>
            </a:r>
            <a:endParaRPr lang="en-US" sz="1300" dirty="0"/>
          </a:p>
        </p:txBody>
      </p:sp>
      <p:sp>
        <p:nvSpPr>
          <p:cNvPr id="9" name="Text 7"/>
          <p:cNvSpPr txBox="1"/>
          <p:nvPr/>
        </p:nvSpPr>
        <p:spPr>
          <a:xfrm>
            <a:off x="640080" y="6400800"/>
            <a:ext cx="9144000" cy="274320"/>
          </a:xfrm>
          <a:prstGeom prst="rect">
            <a:avLst/>
          </a:prstGeom>
          <a:noFill/>
          <a:ln/>
        </p:spPr>
        <p:txBody>
          <a:bodyPr wrap="square" lIns="0" tIns="0" rIns="0" bIns="0" rtlCol="0" anchor="ctr"/>
          <a:lstStyle/>
          <a:p>
            <a:pPr indent="0" marL="0">
              <a:buNone/>
            </a:pPr>
            <a:r>
              <a:rPr lang="en-US" sz="1050" dirty="0">
                <a:solidFill>
                  <a:srgbClr val="43525F"/>
                </a:solidFill>
                <a:latin typeface="Calibri" pitchFamily="34" charset="0"/>
                <a:ea typeface="Calibri" pitchFamily="34" charset="-122"/>
                <a:cs typeface="Calibri" pitchFamily="34" charset="-120"/>
              </a:rPr>
              <a:t>Sources: PVGIS (EC JRC), energy-charts.info (Fraunhofer ISE), Eurostat  |  2023 hourly, 2,000 MWh/year site</a:t>
            </a:r>
            <a:endParaRPr lang="en-US" sz="1050" dirty="0"/>
          </a:p>
        </p:txBody>
      </p:sp>
      <p:sp>
        <p:nvSpPr>
          <p:cNvPr id="10" name="Text 8"/>
          <p:cNvSpPr txBox="1"/>
          <p:nvPr/>
        </p:nvSpPr>
        <p:spPr>
          <a:xfrm>
            <a:off x="10972800" y="6400800"/>
            <a:ext cx="548640" cy="274320"/>
          </a:xfrm>
          <a:prstGeom prst="rect">
            <a:avLst/>
          </a:prstGeom>
          <a:noFill/>
          <a:ln/>
        </p:spPr>
        <p:txBody>
          <a:bodyPr wrap="square" lIns="0" tIns="0" rIns="0" bIns="0" rtlCol="0" anchor="ctr"/>
          <a:lstStyle/>
          <a:p>
            <a:pPr algn="r" indent="0" marL="0">
              <a:buNone/>
            </a:pPr>
            <a:r>
              <a:rPr lang="en-US" sz="1050" dirty="0">
                <a:solidFill>
                  <a:srgbClr val="43525F"/>
                </a:solidFill>
                <a:latin typeface="Calibri" pitchFamily="34" charset="0"/>
                <a:ea typeface="Calibri" pitchFamily="34" charset="-122"/>
                <a:cs typeface="Calibri" pitchFamily="34" charset="-120"/>
              </a:rPr>
              <a:t>3</a:t>
            </a:r>
            <a:endParaRPr lang="en-US" sz="1050" dirty="0"/>
          </a:p>
        </p:txBody>
      </p:sp>
      <p:pic>
        <p:nvPicPr>
          <p:cNvPr id="11" name="Picture 10" descr="day.png"/>
          <p:cNvPicPr>
            <a:picLocks noChangeAspect="1"/>
          </p:cNvPicPr>
          <p:nvPr/>
        </p:nvPicPr>
        <p:blipFill>
          <a:blip r:embed="rId3"/>
          <a:stretch>
            <a:fillRect/>
          </a:stretch>
        </p:blipFill>
        <p:spPr>
          <a:xfrm>
            <a:off x="769886" y="1645920"/>
            <a:ext cx="7512787" cy="4343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000" b="1" dirty="0">
                <a:solidFill>
                  <a:srgbClr val="12243A"/>
                </a:solidFill>
                <a:latin typeface="Cambria" pitchFamily="34" charset="0"/>
                <a:ea typeface="Cambria" pitchFamily="34" charset="-122"/>
                <a:cs typeface="Cambria" pitchFamily="34" charset="-120"/>
              </a:rPr>
              <a:t>The profile sets the size, not whether to build</a:t>
            </a:r>
            <a:endParaRPr lang="en-US" sz="3000" dirty="0"/>
          </a:p>
        </p:txBody>
      </p:sp>
      <p:sp>
        <p:nvSpPr>
          <p:cNvPr id="3" name="Text 1"/>
          <p:cNvSpPr txBox="1"/>
          <p:nvPr/>
        </p:nvSpPr>
        <p:spPr>
          <a:xfrm>
            <a:off x="640080" y="1133856"/>
            <a:ext cx="10881360" cy="365760"/>
          </a:xfrm>
          <a:prstGeom prst="rect">
            <a:avLst/>
          </a:prstGeom>
          <a:noFill/>
          <a:ln/>
        </p:spPr>
        <p:txBody>
          <a:bodyPr wrap="square" lIns="0" tIns="0" rIns="0" bIns="0" rtlCol="0" anchor="ctr"/>
          <a:lstStyle/>
          <a:p>
            <a:pPr indent="0" marL="0">
              <a:buNone/>
            </a:pPr>
            <a:r>
              <a:rPr lang="en-US" sz="1400" dirty="0">
                <a:solidFill>
                  <a:srgbClr val="43525F"/>
                </a:solidFill>
                <a:latin typeface="Calibri" pitchFamily="34" charset="0"/>
                <a:ea typeface="Calibri" pitchFamily="34" charset="-122"/>
                <a:cs typeface="Calibri" pitchFamily="34" charset="-120"/>
              </a:rPr>
              <a:t>Share of generation consumed on site, as the system grows.</a:t>
            </a:r>
            <a:endParaRPr lang="en-US" sz="1400" dirty="0"/>
          </a:p>
        </p:txBody>
      </p:sp>
      <p:sp>
        <p:nvSpPr>
          <p:cNvPr id="6" name="Shape 4"/>
          <p:cNvSpPr/>
          <p:nvPr/>
        </p:nvSpPr>
        <p:spPr>
          <a:xfrm>
            <a:off x="8732520" y="1645920"/>
            <a:ext cx="2788920" cy="4343400"/>
          </a:xfrm>
          <a:prstGeom prst="roundRect">
            <a:avLst>
              <a:gd name="adj" fmla="val 2623"/>
            </a:avLst>
          </a:prstGeom>
          <a:solidFill>
            <a:srgbClr val="F2F5F8"/>
          </a:solidFill>
          <a:ln w="12700">
            <a:solidFill>
              <a:srgbClr val="DDE3E9"/>
            </a:solidFill>
            <a:prstDash val="solid"/>
          </a:ln>
        </p:spPr>
        <p:txBody>
          <a:bodyPr/>
          <a:p/>
        </p:txBody>
      </p:sp>
      <p:sp>
        <p:nvSpPr>
          <p:cNvPr id="7" name="Text 5"/>
          <p:cNvSpPr txBox="1"/>
          <p:nvPr/>
        </p:nvSpPr>
        <p:spPr>
          <a:xfrm>
            <a:off x="8961120" y="1874520"/>
            <a:ext cx="2286000" cy="274320"/>
          </a:xfrm>
          <a:prstGeom prst="rect">
            <a:avLst/>
          </a:prstGeom>
          <a:noFill/>
          <a:ln/>
        </p:spPr>
        <p:txBody>
          <a:bodyPr wrap="square" lIns="0" tIns="0" rIns="0" bIns="0" rtlCol="0" anchor="ctr"/>
          <a:lstStyle/>
          <a:p>
            <a:pPr indent="0" marL="0">
              <a:buNone/>
            </a:pPr>
            <a:r>
              <a:rPr lang="en-US" sz="1150" b="1" dirty="0">
                <a:solidFill>
                  <a:srgbClr val="43525F"/>
                </a:solidFill>
                <a:latin typeface="Calibri" pitchFamily="34" charset="0"/>
                <a:ea typeface="Calibri" pitchFamily="34" charset="-122"/>
                <a:cs typeface="Calibri" pitchFamily="34" charset="-120"/>
              </a:rPr>
              <a:t>WHAT THIS SHOWS</a:t>
            </a:r>
            <a:endParaRPr lang="en-US" sz="1150" dirty="0"/>
          </a:p>
        </p:txBody>
      </p:sp>
      <p:sp>
        <p:nvSpPr>
          <p:cNvPr id="8" name="Text 6"/>
          <p:cNvSpPr txBox="1"/>
          <p:nvPr/>
        </p:nvSpPr>
        <p:spPr>
          <a:xfrm>
            <a:off x="8961120" y="2240280"/>
            <a:ext cx="2286000" cy="352044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At a system covering 10% of consumption every profile absorbs almost everything — only 5 points separate them.
At 60% the gap is 30 points: 71% against 40%.
So the qualifying question is how many kilowatt-peak this particular customer can absorb. Whether to offer solar at all is rarely the interesting part.</a:t>
            </a:r>
            <a:endParaRPr lang="en-US" sz="1300" dirty="0"/>
          </a:p>
        </p:txBody>
      </p:sp>
      <p:sp>
        <p:nvSpPr>
          <p:cNvPr id="9" name="Text 7"/>
          <p:cNvSpPr txBox="1"/>
          <p:nvPr/>
        </p:nvSpPr>
        <p:spPr>
          <a:xfrm>
            <a:off x="640080" y="6400800"/>
            <a:ext cx="9144000" cy="274320"/>
          </a:xfrm>
          <a:prstGeom prst="rect">
            <a:avLst/>
          </a:prstGeom>
          <a:noFill/>
          <a:ln/>
        </p:spPr>
        <p:txBody>
          <a:bodyPr wrap="square" lIns="0" tIns="0" rIns="0" bIns="0" rtlCol="0" anchor="ctr"/>
          <a:lstStyle/>
          <a:p>
            <a:pPr indent="0" marL="0">
              <a:buNone/>
            </a:pPr>
            <a:r>
              <a:rPr lang="en-US" sz="1050" dirty="0">
                <a:solidFill>
                  <a:srgbClr val="43525F"/>
                </a:solidFill>
                <a:latin typeface="Calibri" pitchFamily="34" charset="0"/>
                <a:ea typeface="Calibri" pitchFamily="34" charset="-122"/>
                <a:cs typeface="Calibri" pitchFamily="34" charset="-120"/>
              </a:rPr>
              <a:t>Sources: PVGIS (EC JRC), energy-charts.info (Fraunhofer ISE), Eurostat  |  2023 hourly, 2,000 MWh/year site</a:t>
            </a:r>
            <a:endParaRPr lang="en-US" sz="1050" dirty="0"/>
          </a:p>
        </p:txBody>
      </p:sp>
      <p:sp>
        <p:nvSpPr>
          <p:cNvPr id="10" name="Text 8"/>
          <p:cNvSpPr txBox="1"/>
          <p:nvPr/>
        </p:nvSpPr>
        <p:spPr>
          <a:xfrm>
            <a:off x="10972800" y="6400800"/>
            <a:ext cx="548640" cy="274320"/>
          </a:xfrm>
          <a:prstGeom prst="rect">
            <a:avLst/>
          </a:prstGeom>
          <a:noFill/>
          <a:ln/>
        </p:spPr>
        <p:txBody>
          <a:bodyPr wrap="square" lIns="0" tIns="0" rIns="0" bIns="0" rtlCol="0" anchor="ctr"/>
          <a:lstStyle/>
          <a:p>
            <a:pPr algn="r" indent="0" marL="0">
              <a:buNone/>
            </a:pPr>
            <a:r>
              <a:rPr lang="en-US" sz="1050" dirty="0">
                <a:solidFill>
                  <a:srgbClr val="43525F"/>
                </a:solidFill>
                <a:latin typeface="Calibri" pitchFamily="34" charset="0"/>
                <a:ea typeface="Calibri" pitchFamily="34" charset="-122"/>
                <a:cs typeface="Calibri" pitchFamily="34" charset="-120"/>
              </a:rPr>
              <a:t>4</a:t>
            </a:r>
            <a:endParaRPr lang="en-US" sz="1050" dirty="0"/>
          </a:p>
        </p:txBody>
      </p:sp>
      <p:pic>
        <p:nvPicPr>
          <p:cNvPr id="11" name="Picture 10" descr="sizing.png"/>
          <p:cNvPicPr>
            <a:picLocks noChangeAspect="1"/>
          </p:cNvPicPr>
          <p:nvPr/>
        </p:nvPicPr>
        <p:blipFill>
          <a:blip r:embed="rId3"/>
          <a:stretch>
            <a:fillRect/>
          </a:stretch>
        </p:blipFill>
        <p:spPr>
          <a:xfrm>
            <a:off x="1100120" y="1645920"/>
            <a:ext cx="6852320" cy="4343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000" b="1" dirty="0">
                <a:solidFill>
                  <a:srgbClr val="12243A"/>
                </a:solidFill>
                <a:latin typeface="Cambria" pitchFamily="34" charset="0"/>
                <a:ea typeface="Cambria" pitchFamily="34" charset="-122"/>
                <a:cs typeface="Cambria" pitchFamily="34" charset="-120"/>
              </a:rPr>
              <a:t>The exported half is worth less every year</a:t>
            </a:r>
            <a:endParaRPr lang="en-US" sz="3000" dirty="0"/>
          </a:p>
        </p:txBody>
      </p:sp>
      <p:sp>
        <p:nvSpPr>
          <p:cNvPr id="3" name="Text 1"/>
          <p:cNvSpPr txBox="1"/>
          <p:nvPr/>
        </p:nvSpPr>
        <p:spPr>
          <a:xfrm>
            <a:off x="640080" y="1133856"/>
            <a:ext cx="10881360" cy="365760"/>
          </a:xfrm>
          <a:prstGeom prst="rect">
            <a:avLst/>
          </a:prstGeom>
          <a:noFill/>
          <a:ln/>
        </p:spPr>
        <p:txBody>
          <a:bodyPr wrap="square" lIns="0" tIns="0" rIns="0" bIns="0" rtlCol="0" anchor="ctr"/>
          <a:lstStyle/>
          <a:p>
            <a:pPr indent="0" marL="0">
              <a:buNone/>
            </a:pPr>
            <a:r>
              <a:rPr lang="en-US" sz="1400" dirty="0">
                <a:solidFill>
                  <a:srgbClr val="43525F"/>
                </a:solidFill>
                <a:latin typeface="Calibri" pitchFamily="34" charset="0"/>
                <a:ea typeface="Calibri" pitchFamily="34" charset="-122"/>
                <a:cs typeface="Calibri" pitchFamily="34" charset="-120"/>
              </a:rPr>
              <a:t>Modelled: a PVGIS generation shape weighted against each year's actual day-ahead prices, compared with the flat baseload price of the same year.</a:t>
            </a:r>
            <a:endParaRPr lang="en-US" sz="1400" dirty="0"/>
          </a:p>
        </p:txBody>
      </p:sp>
      <p:sp>
        <p:nvSpPr>
          <p:cNvPr id="6" name="Shape 4"/>
          <p:cNvSpPr/>
          <p:nvPr/>
        </p:nvSpPr>
        <p:spPr>
          <a:xfrm>
            <a:off x="8732520" y="1645920"/>
            <a:ext cx="2788920" cy="4343400"/>
          </a:xfrm>
          <a:prstGeom prst="roundRect">
            <a:avLst>
              <a:gd name="adj" fmla="val 2623"/>
            </a:avLst>
          </a:prstGeom>
          <a:solidFill>
            <a:srgbClr val="F2F5F8"/>
          </a:solidFill>
          <a:ln w="12700">
            <a:solidFill>
              <a:srgbClr val="DDE3E9"/>
            </a:solidFill>
            <a:prstDash val="solid"/>
          </a:ln>
        </p:spPr>
        <p:txBody>
          <a:bodyPr/>
          <a:p/>
        </p:txBody>
      </p:sp>
      <p:sp>
        <p:nvSpPr>
          <p:cNvPr id="7" name="Text 5"/>
          <p:cNvSpPr txBox="1"/>
          <p:nvPr/>
        </p:nvSpPr>
        <p:spPr>
          <a:xfrm>
            <a:off x="8961120" y="1874520"/>
            <a:ext cx="2286000" cy="274320"/>
          </a:xfrm>
          <a:prstGeom prst="rect">
            <a:avLst/>
          </a:prstGeom>
          <a:noFill/>
          <a:ln/>
        </p:spPr>
        <p:txBody>
          <a:bodyPr wrap="square" lIns="0" tIns="0" rIns="0" bIns="0" rtlCol="0" anchor="ctr"/>
          <a:lstStyle/>
          <a:p>
            <a:pPr indent="0" marL="0">
              <a:buNone/>
            </a:pPr>
            <a:r>
              <a:rPr lang="en-US" sz="1150" b="1" dirty="0">
                <a:solidFill>
                  <a:srgbClr val="43525F"/>
                </a:solidFill>
                <a:latin typeface="Calibri" pitchFamily="34" charset="0"/>
                <a:ea typeface="Calibri" pitchFamily="34" charset="-122"/>
                <a:cs typeface="Calibri" pitchFamily="34" charset="-120"/>
              </a:rPr>
              <a:t>WHAT THIS SHOWS</a:t>
            </a:r>
            <a:endParaRPr lang="en-US" sz="1150" dirty="0"/>
          </a:p>
        </p:txBody>
      </p:sp>
      <p:sp>
        <p:nvSpPr>
          <p:cNvPr id="8" name="Text 6"/>
          <p:cNvSpPr txBox="1"/>
          <p:nvPr/>
        </p:nvSpPr>
        <p:spPr>
          <a:xfrm>
            <a:off x="8961120" y="2240280"/>
            <a:ext cx="2286000" cy="352044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On this basis solar earned 0.89 of the baseload price in 2021 and 0.62 in 2025.
More solar on the system depresses the price in exactly the hours solar generates. Every year the half of the output that leaves the site is worth less, and the half that stays matters more.</a:t>
            </a:r>
            <a:endParaRPr lang="en-US" sz="1300" dirty="0"/>
          </a:p>
        </p:txBody>
      </p:sp>
      <p:sp>
        <p:nvSpPr>
          <p:cNvPr id="9" name="Text 7"/>
          <p:cNvSpPr txBox="1"/>
          <p:nvPr/>
        </p:nvSpPr>
        <p:spPr>
          <a:xfrm>
            <a:off x="640080" y="6400800"/>
            <a:ext cx="9144000" cy="274320"/>
          </a:xfrm>
          <a:prstGeom prst="rect">
            <a:avLst/>
          </a:prstGeom>
          <a:noFill/>
          <a:ln/>
        </p:spPr>
        <p:txBody>
          <a:bodyPr wrap="square" lIns="0" tIns="0" rIns="0" bIns="0" rtlCol="0" anchor="ctr"/>
          <a:lstStyle/>
          <a:p>
            <a:pPr indent="0" marL="0">
              <a:buNone/>
            </a:pPr>
            <a:r>
              <a:rPr lang="en-US" sz="1050" dirty="0">
                <a:solidFill>
                  <a:srgbClr val="43525F"/>
                </a:solidFill>
                <a:latin typeface="Calibri" pitchFamily="34" charset="0"/>
                <a:ea typeface="Calibri" pitchFamily="34" charset="-122"/>
                <a:cs typeface="Calibri" pitchFamily="34" charset="-120"/>
              </a:rPr>
              <a:t>Sources: PVGIS (EC JRC), energy-charts.info (Fraunhofer ISE), Eurostat  |  2023 hourly, 2,000 MWh/year site</a:t>
            </a:r>
            <a:endParaRPr lang="en-US" sz="1050" dirty="0"/>
          </a:p>
        </p:txBody>
      </p:sp>
      <p:sp>
        <p:nvSpPr>
          <p:cNvPr id="10" name="Text 8"/>
          <p:cNvSpPr txBox="1"/>
          <p:nvPr/>
        </p:nvSpPr>
        <p:spPr>
          <a:xfrm>
            <a:off x="10972800" y="6400800"/>
            <a:ext cx="548640" cy="274320"/>
          </a:xfrm>
          <a:prstGeom prst="rect">
            <a:avLst/>
          </a:prstGeom>
          <a:noFill/>
          <a:ln/>
        </p:spPr>
        <p:txBody>
          <a:bodyPr wrap="square" lIns="0" tIns="0" rIns="0" bIns="0" rtlCol="0" anchor="ctr"/>
          <a:lstStyle/>
          <a:p>
            <a:pPr algn="r" indent="0" marL="0">
              <a:buNone/>
            </a:pPr>
            <a:r>
              <a:rPr lang="en-US" sz="1050" dirty="0">
                <a:solidFill>
                  <a:srgbClr val="43525F"/>
                </a:solidFill>
                <a:latin typeface="Calibri" pitchFamily="34" charset="0"/>
                <a:ea typeface="Calibri" pitchFamily="34" charset="-122"/>
                <a:cs typeface="Calibri" pitchFamily="34" charset="-120"/>
              </a:rPr>
              <a:t>5</a:t>
            </a:r>
            <a:endParaRPr lang="en-US" sz="1050" dirty="0"/>
          </a:p>
        </p:txBody>
      </p:sp>
      <p:pic>
        <p:nvPicPr>
          <p:cNvPr id="11" name="Picture 10" descr="capture.png"/>
          <p:cNvPicPr>
            <a:picLocks noChangeAspect="1"/>
          </p:cNvPicPr>
          <p:nvPr/>
        </p:nvPicPr>
        <p:blipFill>
          <a:blip r:embed="rId3"/>
          <a:stretch>
            <a:fillRect/>
          </a:stretch>
        </p:blipFill>
        <p:spPr>
          <a:xfrm>
            <a:off x="640080" y="1839660"/>
            <a:ext cx="7772400" cy="39559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000" b="1" dirty="0">
                <a:solidFill>
                  <a:srgbClr val="12243A"/>
                </a:solidFill>
                <a:latin typeface="Cambria" pitchFamily="34" charset="0"/>
                <a:ea typeface="Cambria" pitchFamily="34" charset="-122"/>
                <a:cs typeface="Cambria" pitchFamily="34" charset="-120"/>
              </a:rPr>
              <a:t>Where in Czechia barely matters</a:t>
            </a:r>
            <a:endParaRPr lang="en-US" sz="3000" dirty="0"/>
          </a:p>
        </p:txBody>
      </p:sp>
      <p:sp>
        <p:nvSpPr>
          <p:cNvPr id="3" name="Text 1"/>
          <p:cNvSpPr txBox="1"/>
          <p:nvPr/>
        </p:nvSpPr>
        <p:spPr>
          <a:xfrm>
            <a:off x="640080" y="1133856"/>
            <a:ext cx="10881360" cy="365760"/>
          </a:xfrm>
          <a:prstGeom prst="rect">
            <a:avLst/>
          </a:prstGeom>
          <a:noFill/>
          <a:ln/>
        </p:spPr>
        <p:txBody>
          <a:bodyPr wrap="square" lIns="0" tIns="0" rIns="0" bIns="0" rtlCol="0" anchor="ctr"/>
          <a:lstStyle/>
          <a:p>
            <a:pPr indent="0" marL="0">
              <a:buNone/>
            </a:pPr>
            <a:r>
              <a:rPr lang="en-US" sz="1400" dirty="0">
                <a:solidFill>
                  <a:srgbClr val="43525F"/>
                </a:solidFill>
                <a:latin typeface="Calibri" pitchFamily="34" charset="0"/>
                <a:ea typeface="Calibri" pitchFamily="34" charset="-122"/>
                <a:cs typeface="Calibri" pitchFamily="34" charset="-120"/>
              </a:rPr>
              <a:t>Same daytime profile, same system size, five Czech locations.</a:t>
            </a:r>
            <a:endParaRPr lang="en-US" sz="1400" dirty="0"/>
          </a:p>
        </p:txBody>
      </p:sp>
      <p:sp>
        <p:nvSpPr>
          <p:cNvPr id="6" name="Shape 4"/>
          <p:cNvSpPr/>
          <p:nvPr/>
        </p:nvSpPr>
        <p:spPr>
          <a:xfrm>
            <a:off x="8732520" y="1645920"/>
            <a:ext cx="2788920" cy="4343400"/>
          </a:xfrm>
          <a:prstGeom prst="roundRect">
            <a:avLst>
              <a:gd name="adj" fmla="val 2623"/>
            </a:avLst>
          </a:prstGeom>
          <a:solidFill>
            <a:srgbClr val="F2F5F8"/>
          </a:solidFill>
          <a:ln w="12700">
            <a:solidFill>
              <a:srgbClr val="DDE3E9"/>
            </a:solidFill>
            <a:prstDash val="solid"/>
          </a:ln>
        </p:spPr>
        <p:txBody>
          <a:bodyPr/>
          <a:p/>
        </p:txBody>
      </p:sp>
      <p:sp>
        <p:nvSpPr>
          <p:cNvPr id="7" name="Text 5"/>
          <p:cNvSpPr txBox="1"/>
          <p:nvPr/>
        </p:nvSpPr>
        <p:spPr>
          <a:xfrm>
            <a:off x="8961120" y="1874520"/>
            <a:ext cx="2286000" cy="274320"/>
          </a:xfrm>
          <a:prstGeom prst="rect">
            <a:avLst/>
          </a:prstGeom>
          <a:noFill/>
          <a:ln/>
        </p:spPr>
        <p:txBody>
          <a:bodyPr wrap="square" lIns="0" tIns="0" rIns="0" bIns="0" rtlCol="0" anchor="ctr"/>
          <a:lstStyle/>
          <a:p>
            <a:pPr indent="0" marL="0">
              <a:buNone/>
            </a:pPr>
            <a:r>
              <a:rPr lang="en-US" sz="1150" b="1" dirty="0">
                <a:solidFill>
                  <a:srgbClr val="43525F"/>
                </a:solidFill>
                <a:latin typeface="Calibri" pitchFamily="34" charset="0"/>
                <a:ea typeface="Calibri" pitchFamily="34" charset="-122"/>
                <a:cs typeface="Calibri" pitchFamily="34" charset="-120"/>
              </a:rPr>
              <a:t>WHAT THIS SHOWS</a:t>
            </a:r>
            <a:endParaRPr lang="en-US" sz="1150" dirty="0"/>
          </a:p>
        </p:txBody>
      </p:sp>
      <p:sp>
        <p:nvSpPr>
          <p:cNvPr id="8" name="Text 6"/>
          <p:cNvSpPr txBox="1"/>
          <p:nvPr/>
        </p:nvSpPr>
        <p:spPr>
          <a:xfrm>
            <a:off x="8961120" y="2240280"/>
            <a:ext cx="2286000" cy="352044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Brno yields 1,087 kWh/kWp against 997 in Ústí nad Labem — 9% across the whole country, worth 0.7 years of payback.
At a fixed system size the customer's shape moves payback by a similar amount (0.6 years). The difference is that geography does not change how large a system the site can absorb, and the profile does — by 1.7x.
So region is a tie-breaker. Operating hours decide the project.</a:t>
            </a:r>
            <a:endParaRPr lang="en-US" sz="1300" dirty="0"/>
          </a:p>
        </p:txBody>
      </p:sp>
      <p:sp>
        <p:nvSpPr>
          <p:cNvPr id="9" name="Text 7"/>
          <p:cNvSpPr txBox="1"/>
          <p:nvPr/>
        </p:nvSpPr>
        <p:spPr>
          <a:xfrm>
            <a:off x="640080" y="6400800"/>
            <a:ext cx="9144000" cy="274320"/>
          </a:xfrm>
          <a:prstGeom prst="rect">
            <a:avLst/>
          </a:prstGeom>
          <a:noFill/>
          <a:ln/>
        </p:spPr>
        <p:txBody>
          <a:bodyPr wrap="square" lIns="0" tIns="0" rIns="0" bIns="0" rtlCol="0" anchor="ctr"/>
          <a:lstStyle/>
          <a:p>
            <a:pPr indent="0" marL="0">
              <a:buNone/>
            </a:pPr>
            <a:r>
              <a:rPr lang="en-US" sz="1050" dirty="0">
                <a:solidFill>
                  <a:srgbClr val="43525F"/>
                </a:solidFill>
                <a:latin typeface="Calibri" pitchFamily="34" charset="0"/>
                <a:ea typeface="Calibri" pitchFamily="34" charset="-122"/>
                <a:cs typeface="Calibri" pitchFamily="34" charset="-120"/>
              </a:rPr>
              <a:t>Sources: PVGIS (EC JRC), energy-charts.info (Fraunhofer ISE), Eurostat  |  2023 hourly, 2,000 MWh/year site</a:t>
            </a:r>
            <a:endParaRPr lang="en-US" sz="1050" dirty="0"/>
          </a:p>
        </p:txBody>
      </p:sp>
      <p:sp>
        <p:nvSpPr>
          <p:cNvPr id="10" name="Text 8"/>
          <p:cNvSpPr txBox="1"/>
          <p:nvPr/>
        </p:nvSpPr>
        <p:spPr>
          <a:xfrm>
            <a:off x="10972800" y="6400800"/>
            <a:ext cx="548640" cy="274320"/>
          </a:xfrm>
          <a:prstGeom prst="rect">
            <a:avLst/>
          </a:prstGeom>
          <a:noFill/>
          <a:ln/>
        </p:spPr>
        <p:txBody>
          <a:bodyPr wrap="square" lIns="0" tIns="0" rIns="0" bIns="0" rtlCol="0" anchor="ctr"/>
          <a:lstStyle/>
          <a:p>
            <a:pPr algn="r" indent="0" marL="0">
              <a:buNone/>
            </a:pPr>
            <a:r>
              <a:rPr lang="en-US" sz="1050" dirty="0">
                <a:solidFill>
                  <a:srgbClr val="43525F"/>
                </a:solidFill>
                <a:latin typeface="Calibri" pitchFamily="34" charset="0"/>
                <a:ea typeface="Calibri" pitchFamily="34" charset="-122"/>
                <a:cs typeface="Calibri" pitchFamily="34" charset="-120"/>
              </a:rPr>
              <a:t>6</a:t>
            </a:r>
            <a:endParaRPr lang="en-US" sz="1050" dirty="0"/>
          </a:p>
        </p:txBody>
      </p:sp>
      <p:pic>
        <p:nvPicPr>
          <p:cNvPr id="11" name="Picture 10" descr="locations.png"/>
          <p:cNvPicPr>
            <a:picLocks noChangeAspect="1"/>
          </p:cNvPicPr>
          <p:nvPr/>
        </p:nvPicPr>
        <p:blipFill>
          <a:blip r:embed="rId3"/>
          <a:stretch>
            <a:fillRect/>
          </a:stretch>
        </p:blipFill>
        <p:spPr>
          <a:xfrm>
            <a:off x="640080" y="1962303"/>
            <a:ext cx="7772400" cy="371063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000" b="1" dirty="0">
                <a:solidFill>
                  <a:srgbClr val="12243A"/>
                </a:solidFill>
                <a:latin typeface="Cambria" pitchFamily="34" charset="0"/>
                <a:ea typeface="Cambria" pitchFamily="34" charset="-122"/>
                <a:cs typeface="Cambria" pitchFamily="34" charset="-120"/>
              </a:rPr>
              <a:t>What this changes for who we approach</a:t>
            </a:r>
            <a:endParaRPr lang="en-US" sz="3000" dirty="0"/>
          </a:p>
        </p:txBody>
      </p:sp>
      <p:sp>
        <p:nvSpPr>
          <p:cNvPr id="3" name="Text 1"/>
          <p:cNvSpPr txBox="1"/>
          <p:nvPr/>
        </p:nvSpPr>
        <p:spPr>
          <a:xfrm>
            <a:off x="640080" y="1133856"/>
            <a:ext cx="10881360" cy="365760"/>
          </a:xfrm>
          <a:prstGeom prst="rect">
            <a:avLst/>
          </a:prstGeom>
          <a:noFill/>
          <a:ln/>
        </p:spPr>
        <p:txBody>
          <a:bodyPr wrap="square" lIns="0" tIns="0" rIns="0" bIns="0" rtlCol="0" anchor="ctr"/>
          <a:lstStyle/>
          <a:p>
            <a:pPr indent="0" marL="0">
              <a:buNone/>
            </a:pPr>
            <a:r>
              <a:rPr lang="en-US" sz="1400" dirty="0">
                <a:solidFill>
                  <a:srgbClr val="43525F"/>
                </a:solidFill>
                <a:latin typeface="Calibri" pitchFamily="34" charset="0"/>
                <a:ea typeface="Calibri" pitchFamily="34" charset="-122"/>
                <a:cs typeface="Calibri" pitchFamily="34" charset="-120"/>
              </a:rPr>
              <a:t>Three things follow for how solar is sold to business customers.</a:t>
            </a:r>
            <a:endParaRPr lang="en-US" sz="1400" dirty="0"/>
          </a:p>
        </p:txBody>
      </p:sp>
      <p:sp>
        <p:nvSpPr>
          <p:cNvPr id="4" name="Shape 2"/>
          <p:cNvSpPr/>
          <p:nvPr/>
        </p:nvSpPr>
        <p:spPr>
          <a:xfrm>
            <a:off x="640080" y="1691640"/>
            <a:ext cx="3566160" cy="4114800"/>
          </a:xfrm>
          <a:prstGeom prst="roundRect">
            <a:avLst>
              <a:gd name="adj" fmla="val 2051"/>
            </a:avLst>
          </a:prstGeom>
          <a:solidFill>
            <a:srgbClr val="F2F5F8"/>
          </a:solidFill>
          <a:ln w="12700">
            <a:solidFill>
              <a:srgbClr val="DDE3E9"/>
            </a:solidFill>
            <a:prstDash val="solid"/>
          </a:ln>
        </p:spPr>
        <p:txBody>
          <a:bodyPr/>
          <a:p/>
        </p:txBody>
      </p:sp>
      <p:sp>
        <p:nvSpPr>
          <p:cNvPr id="5" name="Text 3"/>
          <p:cNvSpPr txBox="1"/>
          <p:nvPr/>
        </p:nvSpPr>
        <p:spPr>
          <a:xfrm>
            <a:off x="896112" y="1874520"/>
            <a:ext cx="3054096" cy="457200"/>
          </a:xfrm>
          <a:prstGeom prst="rect">
            <a:avLst/>
          </a:prstGeom>
          <a:noFill/>
          <a:ln/>
        </p:spPr>
        <p:txBody>
          <a:bodyPr wrap="square" lIns="0" tIns="0" rIns="0" bIns="0" rtlCol="0" anchor="ctr"/>
          <a:lstStyle/>
          <a:p>
            <a:pPr indent="0" marL="0">
              <a:buNone/>
            </a:pPr>
            <a:r>
              <a:rPr lang="en-US" sz="2200" b="1" dirty="0">
                <a:solidFill>
                  <a:srgbClr val="2A78D6"/>
                </a:solidFill>
                <a:latin typeface="Cambria" pitchFamily="34" charset="0"/>
                <a:ea typeface="Cambria" pitchFamily="34" charset="-122"/>
                <a:cs typeface="Cambria" pitchFamily="34" charset="-120"/>
              </a:rPr>
              <a:t>01</a:t>
            </a:r>
            <a:endParaRPr lang="en-US" sz="2200" dirty="0"/>
          </a:p>
        </p:txBody>
      </p:sp>
      <p:sp>
        <p:nvSpPr>
          <p:cNvPr id="6" name="Text 4"/>
          <p:cNvSpPr txBox="1"/>
          <p:nvPr/>
        </p:nvSpPr>
        <p:spPr>
          <a:xfrm>
            <a:off x="896112" y="2331720"/>
            <a:ext cx="3054096" cy="685800"/>
          </a:xfrm>
          <a:prstGeom prst="rect">
            <a:avLst/>
          </a:prstGeom>
          <a:noFill/>
          <a:ln/>
        </p:spPr>
        <p:txBody>
          <a:bodyPr wrap="square" lIns="0" tIns="0" rIns="0" bIns="0" rtlCol="0" anchor="ctr"/>
          <a:lstStyle/>
          <a:p>
            <a:pPr indent="0" marL="0">
              <a:buNone/>
            </a:pPr>
            <a:r>
              <a:rPr lang="en-US" sz="1500" b="1" dirty="0">
                <a:solidFill>
                  <a:srgbClr val="12243A"/>
                </a:solidFill>
                <a:latin typeface="Calibri" pitchFamily="34" charset="0"/>
                <a:ea typeface="Calibri" pitchFamily="34" charset="-122"/>
                <a:cs typeface="Calibri" pitchFamily="34" charset="-120"/>
              </a:rPr>
              <a:t>Qualify on operating hours before roof area</a:t>
            </a:r>
            <a:endParaRPr lang="en-US" sz="1500" dirty="0"/>
          </a:p>
        </p:txBody>
      </p:sp>
      <p:sp>
        <p:nvSpPr>
          <p:cNvPr id="7" name="Text 5"/>
          <p:cNvSpPr txBox="1"/>
          <p:nvPr/>
        </p:nvSpPr>
        <p:spPr>
          <a:xfrm>
            <a:off x="896112" y="3063240"/>
            <a:ext cx="3054096" cy="251460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Two customers with the same consumption and the same roof support systems 1.7x apart within the same payback. Operating hours are already in the CRM, or one question away. Payback alone would not separate these customers; the size they can absorb does.</a:t>
            </a:r>
            <a:endParaRPr lang="en-US" sz="1300" dirty="0"/>
          </a:p>
        </p:txBody>
      </p:sp>
      <p:sp>
        <p:nvSpPr>
          <p:cNvPr id="8" name="Shape 6"/>
          <p:cNvSpPr/>
          <p:nvPr/>
        </p:nvSpPr>
        <p:spPr>
          <a:xfrm>
            <a:off x="4480560" y="1691640"/>
            <a:ext cx="3566160" cy="4114800"/>
          </a:xfrm>
          <a:prstGeom prst="roundRect">
            <a:avLst>
              <a:gd name="adj" fmla="val 2051"/>
            </a:avLst>
          </a:prstGeom>
          <a:solidFill>
            <a:srgbClr val="F2F5F8"/>
          </a:solidFill>
          <a:ln w="12700">
            <a:solidFill>
              <a:srgbClr val="DDE3E9"/>
            </a:solidFill>
            <a:prstDash val="solid"/>
          </a:ln>
        </p:spPr>
        <p:txBody>
          <a:bodyPr/>
          <a:p/>
        </p:txBody>
      </p:sp>
      <p:sp>
        <p:nvSpPr>
          <p:cNvPr id="9" name="Text 7"/>
          <p:cNvSpPr txBox="1"/>
          <p:nvPr/>
        </p:nvSpPr>
        <p:spPr>
          <a:xfrm>
            <a:off x="4736592" y="1874520"/>
            <a:ext cx="3054096" cy="457200"/>
          </a:xfrm>
          <a:prstGeom prst="rect">
            <a:avLst/>
          </a:prstGeom>
          <a:noFill/>
          <a:ln/>
        </p:spPr>
        <p:txBody>
          <a:bodyPr wrap="square" lIns="0" tIns="0" rIns="0" bIns="0" rtlCol="0" anchor="ctr"/>
          <a:lstStyle/>
          <a:p>
            <a:pPr indent="0" marL="0">
              <a:buNone/>
            </a:pPr>
            <a:r>
              <a:rPr lang="en-US" sz="2200" b="1" dirty="0">
                <a:solidFill>
                  <a:srgbClr val="2A78D6"/>
                </a:solidFill>
                <a:latin typeface="Cambria" pitchFamily="34" charset="0"/>
                <a:ea typeface="Cambria" pitchFamily="34" charset="-122"/>
                <a:cs typeface="Cambria" pitchFamily="34" charset="-120"/>
              </a:rPr>
              <a:t>02</a:t>
            </a:r>
            <a:endParaRPr lang="en-US" sz="2200" dirty="0"/>
          </a:p>
        </p:txBody>
      </p:sp>
      <p:sp>
        <p:nvSpPr>
          <p:cNvPr id="10" name="Text 8"/>
          <p:cNvSpPr txBox="1"/>
          <p:nvPr/>
        </p:nvSpPr>
        <p:spPr>
          <a:xfrm>
            <a:off x="4736592" y="2331720"/>
            <a:ext cx="3054096" cy="685800"/>
          </a:xfrm>
          <a:prstGeom prst="rect">
            <a:avLst/>
          </a:prstGeom>
          <a:noFill/>
          <a:ln/>
        </p:spPr>
        <p:txBody>
          <a:bodyPr wrap="square" lIns="0" tIns="0" rIns="0" bIns="0" rtlCol="0" anchor="ctr"/>
          <a:lstStyle/>
          <a:p>
            <a:pPr indent="0" marL="0">
              <a:buNone/>
            </a:pPr>
            <a:r>
              <a:rPr lang="en-US" sz="1500" b="1" dirty="0">
                <a:solidFill>
                  <a:srgbClr val="12243A"/>
                </a:solidFill>
                <a:latin typeface="Calibri" pitchFamily="34" charset="0"/>
                <a:ea typeface="Calibri" pitchFamily="34" charset="-122"/>
                <a:cs typeface="Calibri" pitchFamily="34" charset="-120"/>
              </a:rPr>
              <a:t>Sell the size the customer can absorb</a:t>
            </a:r>
            <a:endParaRPr lang="en-US" sz="1500" dirty="0"/>
          </a:p>
        </p:txBody>
      </p:sp>
      <p:sp>
        <p:nvSpPr>
          <p:cNvPr id="11" name="Text 9"/>
          <p:cNvSpPr txBox="1"/>
          <p:nvPr/>
        </p:nvSpPr>
        <p:spPr>
          <a:xfrm>
            <a:off x="4736592" y="3063240"/>
            <a:ext cx="3054096" cy="251460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Oversizing does not fail loudly. It quietly converts 0.128 EUR/kWh of avoided cost into 0.038 EUR/kWh of export revenue. The right answer is the largest system that still lands inside the customer's own payback hurdle.</a:t>
            </a:r>
            <a:endParaRPr lang="en-US" sz="1300" dirty="0"/>
          </a:p>
        </p:txBody>
      </p:sp>
      <p:sp>
        <p:nvSpPr>
          <p:cNvPr id="12" name="Shape 10"/>
          <p:cNvSpPr/>
          <p:nvPr/>
        </p:nvSpPr>
        <p:spPr>
          <a:xfrm>
            <a:off x="8321040" y="1691640"/>
            <a:ext cx="3566160" cy="4114800"/>
          </a:xfrm>
          <a:prstGeom prst="roundRect">
            <a:avLst>
              <a:gd name="adj" fmla="val 2051"/>
            </a:avLst>
          </a:prstGeom>
          <a:solidFill>
            <a:srgbClr val="F2F5F8"/>
          </a:solidFill>
          <a:ln w="12700">
            <a:solidFill>
              <a:srgbClr val="DDE3E9"/>
            </a:solidFill>
            <a:prstDash val="solid"/>
          </a:ln>
        </p:spPr>
        <p:txBody>
          <a:bodyPr/>
          <a:p/>
        </p:txBody>
      </p:sp>
      <p:sp>
        <p:nvSpPr>
          <p:cNvPr id="13" name="Text 11"/>
          <p:cNvSpPr txBox="1"/>
          <p:nvPr/>
        </p:nvSpPr>
        <p:spPr>
          <a:xfrm>
            <a:off x="8577072" y="1874520"/>
            <a:ext cx="3054096" cy="457200"/>
          </a:xfrm>
          <a:prstGeom prst="rect">
            <a:avLst/>
          </a:prstGeom>
          <a:noFill/>
          <a:ln/>
        </p:spPr>
        <p:txBody>
          <a:bodyPr wrap="square" lIns="0" tIns="0" rIns="0" bIns="0" rtlCol="0" anchor="ctr"/>
          <a:lstStyle/>
          <a:p>
            <a:pPr indent="0" marL="0">
              <a:buNone/>
            </a:pPr>
            <a:r>
              <a:rPr lang="en-US" sz="2200" b="1" dirty="0">
                <a:solidFill>
                  <a:srgbClr val="2A78D6"/>
                </a:solidFill>
                <a:latin typeface="Cambria" pitchFamily="34" charset="0"/>
                <a:ea typeface="Cambria" pitchFamily="34" charset="-122"/>
                <a:cs typeface="Cambria" pitchFamily="34" charset="-120"/>
              </a:rPr>
              <a:t>03</a:t>
            </a:r>
            <a:endParaRPr lang="en-US" sz="2200" dirty="0"/>
          </a:p>
        </p:txBody>
      </p:sp>
      <p:sp>
        <p:nvSpPr>
          <p:cNvPr id="14" name="Text 12"/>
          <p:cNvSpPr txBox="1"/>
          <p:nvPr/>
        </p:nvSpPr>
        <p:spPr>
          <a:xfrm>
            <a:off x="8577072" y="2331720"/>
            <a:ext cx="3054096" cy="685800"/>
          </a:xfrm>
          <a:prstGeom prst="rect">
            <a:avLst/>
          </a:prstGeom>
          <a:noFill/>
          <a:ln/>
        </p:spPr>
        <p:txBody>
          <a:bodyPr wrap="square" lIns="0" tIns="0" rIns="0" bIns="0" rtlCol="0" anchor="ctr"/>
          <a:lstStyle/>
          <a:p>
            <a:pPr indent="0" marL="0">
              <a:buNone/>
            </a:pPr>
            <a:r>
              <a:rPr lang="en-US" sz="1500" b="1" dirty="0">
                <a:solidFill>
                  <a:srgbClr val="12243A"/>
                </a:solidFill>
                <a:latin typeface="Calibri" pitchFamily="34" charset="0"/>
                <a:ea typeface="Calibri" pitchFamily="34" charset="-122"/>
                <a:cs typeface="Calibri" pitchFamily="34" charset="-120"/>
              </a:rPr>
              <a:t>For the wrong shape, sell something that moves the load</a:t>
            </a:r>
            <a:endParaRPr lang="en-US" sz="1500" dirty="0"/>
          </a:p>
        </p:txBody>
      </p:sp>
      <p:sp>
        <p:nvSpPr>
          <p:cNvPr id="15" name="Text 13"/>
          <p:cNvSpPr txBox="1"/>
          <p:nvPr/>
        </p:nvSpPr>
        <p:spPr>
          <a:xfrm>
            <a:off x="8577072" y="3063240"/>
            <a:ext cx="3054096" cy="251460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A night-heavy site does not become a good solar customer by buying fewer panels. It becomes one by shifting load into the day, or by storing it. Different product, and this analysis says which customers need it.</a:t>
            </a:r>
            <a:endParaRPr lang="en-US" sz="1300" dirty="0"/>
          </a:p>
        </p:txBody>
      </p:sp>
      <p:sp>
        <p:nvSpPr>
          <p:cNvPr id="16" name="Text 14"/>
          <p:cNvSpPr txBox="1"/>
          <p:nvPr/>
        </p:nvSpPr>
        <p:spPr>
          <a:xfrm>
            <a:off x="640080" y="6400800"/>
            <a:ext cx="9144000" cy="274320"/>
          </a:xfrm>
          <a:prstGeom prst="rect">
            <a:avLst/>
          </a:prstGeom>
          <a:noFill/>
          <a:ln/>
        </p:spPr>
        <p:txBody>
          <a:bodyPr wrap="square" lIns="0" tIns="0" rIns="0" bIns="0" rtlCol="0" anchor="ctr"/>
          <a:lstStyle/>
          <a:p>
            <a:pPr indent="0" marL="0">
              <a:buNone/>
            </a:pPr>
            <a:r>
              <a:rPr lang="en-US" sz="1050" dirty="0">
                <a:solidFill>
                  <a:srgbClr val="43525F"/>
                </a:solidFill>
                <a:latin typeface="Calibri" pitchFamily="34" charset="0"/>
                <a:ea typeface="Calibri" pitchFamily="34" charset="-122"/>
                <a:cs typeface="Calibri" pitchFamily="34" charset="-120"/>
              </a:rPr>
              <a:t>Sources: PVGIS (EC JRC), energy-charts.info (Fraunhofer ISE), Eurostat  |  2023 hourly, 2,000 MWh/year site</a:t>
            </a:r>
            <a:endParaRPr lang="en-US" sz="1050" dirty="0"/>
          </a:p>
        </p:txBody>
      </p:sp>
      <p:sp>
        <p:nvSpPr>
          <p:cNvPr id="17" name="Text 15"/>
          <p:cNvSpPr txBox="1"/>
          <p:nvPr/>
        </p:nvSpPr>
        <p:spPr>
          <a:xfrm>
            <a:off x="10972800" y="6400800"/>
            <a:ext cx="548640" cy="274320"/>
          </a:xfrm>
          <a:prstGeom prst="rect">
            <a:avLst/>
          </a:prstGeom>
          <a:noFill/>
          <a:ln/>
        </p:spPr>
        <p:txBody>
          <a:bodyPr wrap="square" lIns="0" tIns="0" rIns="0" bIns="0" rtlCol="0" anchor="ctr"/>
          <a:lstStyle/>
          <a:p>
            <a:pPr algn="r" indent="0" marL="0">
              <a:buNone/>
            </a:pPr>
            <a:r>
              <a:rPr lang="en-US" sz="1050" dirty="0">
                <a:solidFill>
                  <a:srgbClr val="43525F"/>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000" b="1" dirty="0">
                <a:solidFill>
                  <a:srgbClr val="12243A"/>
                </a:solidFill>
                <a:latin typeface="Cambria" pitchFamily="34" charset="0"/>
                <a:ea typeface="Cambria" pitchFamily="34" charset="-122"/>
                <a:cs typeface="Cambria" pitchFamily="34" charset="-120"/>
              </a:rPr>
              <a:t>How the numbers were made, and where they stop</a:t>
            </a:r>
            <a:endParaRPr lang="en-US" sz="3000" dirty="0"/>
          </a:p>
        </p:txBody>
      </p:sp>
      <p:sp>
        <p:nvSpPr>
          <p:cNvPr id="3" name="Text 1"/>
          <p:cNvSpPr txBox="1"/>
          <p:nvPr/>
        </p:nvSpPr>
        <p:spPr>
          <a:xfrm>
            <a:off x="640080" y="1133856"/>
            <a:ext cx="10881360" cy="365760"/>
          </a:xfrm>
          <a:prstGeom prst="rect">
            <a:avLst/>
          </a:prstGeom>
          <a:noFill/>
          <a:ln/>
        </p:spPr>
        <p:txBody>
          <a:bodyPr wrap="square" lIns="0" tIns="0" rIns="0" bIns="0" rtlCol="0" anchor="ctr"/>
          <a:lstStyle/>
          <a:p>
            <a:pPr indent="0" marL="0">
              <a:buNone/>
            </a:pPr>
            <a:r>
              <a:rPr lang="en-US" sz="1400" dirty="0">
                <a:solidFill>
                  <a:srgbClr val="43525F"/>
                </a:solidFill>
                <a:latin typeface="Calibri" pitchFamily="34" charset="0"/>
                <a:ea typeface="Calibri" pitchFamily="34" charset="-122"/>
                <a:cs typeface="Calibri" pitchFamily="34" charset="-120"/>
              </a:rPr>
              <a:t>Every figure is computed from the cached responses in this repository and can be reproduced with one command.</a:t>
            </a:r>
            <a:endParaRPr lang="en-US" sz="1400" dirty="0"/>
          </a:p>
        </p:txBody>
      </p:sp>
      <p:sp>
        <p:nvSpPr>
          <p:cNvPr id="4" name="Shape 2"/>
          <p:cNvSpPr/>
          <p:nvPr/>
        </p:nvSpPr>
        <p:spPr>
          <a:xfrm>
            <a:off x="640080" y="1691640"/>
            <a:ext cx="3566160" cy="1325880"/>
          </a:xfrm>
          <a:prstGeom prst="roundRect">
            <a:avLst>
              <a:gd name="adj" fmla="val 5517"/>
            </a:avLst>
          </a:prstGeom>
          <a:solidFill>
            <a:srgbClr val="F2F5F8"/>
          </a:solidFill>
          <a:ln w="12700">
            <a:solidFill>
              <a:srgbClr val="DDE3E9"/>
            </a:solidFill>
            <a:prstDash val="solid"/>
          </a:ln>
        </p:spPr>
        <p:txBody>
          <a:bodyPr/>
          <a:p/>
        </p:txBody>
      </p:sp>
      <p:sp>
        <p:nvSpPr>
          <p:cNvPr id="5" name="Text 3"/>
          <p:cNvSpPr txBox="1"/>
          <p:nvPr/>
        </p:nvSpPr>
        <p:spPr>
          <a:xfrm>
            <a:off x="868680" y="1828800"/>
            <a:ext cx="3108960" cy="274320"/>
          </a:xfrm>
          <a:prstGeom prst="rect">
            <a:avLst/>
          </a:prstGeom>
          <a:noFill/>
          <a:ln/>
        </p:spPr>
        <p:txBody>
          <a:bodyPr wrap="square" lIns="0" tIns="0" rIns="0" bIns="0" rtlCol="0" anchor="ctr"/>
          <a:lstStyle/>
          <a:p>
            <a:pPr indent="0" marL="0">
              <a:buNone/>
            </a:pPr>
            <a:r>
              <a:rPr lang="en-US" sz="1150" dirty="0">
                <a:solidFill>
                  <a:srgbClr val="43525F"/>
                </a:solidFill>
                <a:latin typeface="Calibri" pitchFamily="34" charset="0"/>
                <a:ea typeface="Calibri" pitchFamily="34" charset="-122"/>
                <a:cs typeface="Calibri" pitchFamily="34" charset="-120"/>
              </a:rPr>
              <a:t>HOURLY PERIODS MODELLED</a:t>
            </a:r>
            <a:endParaRPr lang="en-US" sz="1150" dirty="0"/>
          </a:p>
        </p:txBody>
      </p:sp>
      <p:sp>
        <p:nvSpPr>
          <p:cNvPr id="6" name="Text 4"/>
          <p:cNvSpPr txBox="1"/>
          <p:nvPr/>
        </p:nvSpPr>
        <p:spPr>
          <a:xfrm>
            <a:off x="868680" y="2121408"/>
            <a:ext cx="3108960" cy="502920"/>
          </a:xfrm>
          <a:prstGeom prst="rect">
            <a:avLst/>
          </a:prstGeom>
          <a:noFill/>
          <a:ln/>
        </p:spPr>
        <p:txBody>
          <a:bodyPr wrap="square" lIns="0" tIns="0" rIns="0" bIns="0" rtlCol="0" anchor="ctr"/>
          <a:lstStyle/>
          <a:p>
            <a:pPr indent="0" marL="0">
              <a:buNone/>
            </a:pPr>
            <a:r>
              <a:rPr lang="en-US" sz="2400" b="1" dirty="0">
                <a:solidFill>
                  <a:srgbClr val="2A78D6"/>
                </a:solidFill>
                <a:latin typeface="Cambria" pitchFamily="34" charset="0"/>
                <a:ea typeface="Cambria" pitchFamily="34" charset="-122"/>
                <a:cs typeface="Cambria" pitchFamily="34" charset="-120"/>
              </a:rPr>
              <a:t>43,800</a:t>
            </a:r>
            <a:endParaRPr lang="en-US" sz="2400" dirty="0"/>
          </a:p>
        </p:txBody>
      </p:sp>
      <p:sp>
        <p:nvSpPr>
          <p:cNvPr id="7" name="Text 5"/>
          <p:cNvSpPr txBox="1"/>
          <p:nvPr/>
        </p:nvSpPr>
        <p:spPr>
          <a:xfrm>
            <a:off x="868680" y="2615184"/>
            <a:ext cx="3108960" cy="320040"/>
          </a:xfrm>
          <a:prstGeom prst="rect">
            <a:avLst/>
          </a:prstGeom>
          <a:noFill/>
          <a:ln/>
        </p:spPr>
        <p:txBody>
          <a:bodyPr wrap="square" lIns="0" tIns="0" rIns="0" bIns="0" rtlCol="0" anchor="ctr"/>
          <a:lstStyle/>
          <a:p>
            <a:pPr indent="0" marL="0">
              <a:buNone/>
            </a:pPr>
            <a:r>
              <a:rPr lang="en-US" sz="1100" dirty="0">
                <a:solidFill>
                  <a:srgbClr val="43525F"/>
                </a:solidFill>
                <a:latin typeface="Calibri" pitchFamily="34" charset="0"/>
                <a:ea typeface="Calibri" pitchFamily="34" charset="-122"/>
                <a:cs typeface="Calibri" pitchFamily="34" charset="-120"/>
              </a:rPr>
              <a:t>5 locations x a full year, hour by hour</a:t>
            </a:r>
            <a:endParaRPr lang="en-US" sz="1100" dirty="0"/>
          </a:p>
        </p:txBody>
      </p:sp>
      <p:sp>
        <p:nvSpPr>
          <p:cNvPr id="8" name="Shape 6"/>
          <p:cNvSpPr/>
          <p:nvPr/>
        </p:nvSpPr>
        <p:spPr>
          <a:xfrm>
            <a:off x="4480560" y="1691640"/>
            <a:ext cx="3566160" cy="1325880"/>
          </a:xfrm>
          <a:prstGeom prst="roundRect">
            <a:avLst>
              <a:gd name="adj" fmla="val 5517"/>
            </a:avLst>
          </a:prstGeom>
          <a:solidFill>
            <a:srgbClr val="F2F5F8"/>
          </a:solidFill>
          <a:ln w="12700">
            <a:solidFill>
              <a:srgbClr val="DDE3E9"/>
            </a:solidFill>
            <a:prstDash val="solid"/>
          </a:ln>
        </p:spPr>
        <p:txBody>
          <a:bodyPr/>
          <a:p/>
        </p:txBody>
      </p:sp>
      <p:sp>
        <p:nvSpPr>
          <p:cNvPr id="9" name="Text 7"/>
          <p:cNvSpPr txBox="1"/>
          <p:nvPr/>
        </p:nvSpPr>
        <p:spPr>
          <a:xfrm>
            <a:off x="4709160" y="1828800"/>
            <a:ext cx="3108960" cy="274320"/>
          </a:xfrm>
          <a:prstGeom prst="rect">
            <a:avLst/>
          </a:prstGeom>
          <a:noFill/>
          <a:ln/>
        </p:spPr>
        <p:txBody>
          <a:bodyPr wrap="square" lIns="0" tIns="0" rIns="0" bIns="0" rtlCol="0" anchor="ctr"/>
          <a:lstStyle/>
          <a:p>
            <a:pPr indent="0" marL="0">
              <a:buNone/>
            </a:pPr>
            <a:r>
              <a:rPr lang="en-US" sz="1150" dirty="0">
                <a:solidFill>
                  <a:srgbClr val="43525F"/>
                </a:solidFill>
                <a:latin typeface="Calibri" pitchFamily="34" charset="0"/>
                <a:ea typeface="Calibri" pitchFamily="34" charset="-122"/>
                <a:cs typeface="Calibri" pitchFamily="34" charset="-120"/>
              </a:rPr>
              <a:t>RETAIL PRICE AVOIDED</a:t>
            </a:r>
            <a:endParaRPr lang="en-US" sz="1150" dirty="0"/>
          </a:p>
        </p:txBody>
      </p:sp>
      <p:sp>
        <p:nvSpPr>
          <p:cNvPr id="10" name="Text 8"/>
          <p:cNvSpPr txBox="1"/>
          <p:nvPr/>
        </p:nvSpPr>
        <p:spPr>
          <a:xfrm>
            <a:off x="4709160" y="2121408"/>
            <a:ext cx="3108960" cy="502920"/>
          </a:xfrm>
          <a:prstGeom prst="rect">
            <a:avLst/>
          </a:prstGeom>
          <a:noFill/>
          <a:ln/>
        </p:spPr>
        <p:txBody>
          <a:bodyPr wrap="square" lIns="0" tIns="0" rIns="0" bIns="0" rtlCol="0" anchor="ctr"/>
          <a:lstStyle/>
          <a:p>
            <a:pPr indent="0" marL="0">
              <a:buNone/>
            </a:pPr>
            <a:r>
              <a:rPr lang="en-US" sz="2400" b="1" dirty="0">
                <a:solidFill>
                  <a:srgbClr val="2A78D6"/>
                </a:solidFill>
                <a:latin typeface="Cambria" pitchFamily="34" charset="0"/>
                <a:ea typeface="Cambria" pitchFamily="34" charset="-122"/>
                <a:cs typeface="Cambria" pitchFamily="34" charset="-120"/>
              </a:rPr>
              <a:t>0.128</a:t>
            </a:r>
            <a:endParaRPr lang="en-US" sz="2400" dirty="0"/>
          </a:p>
        </p:txBody>
      </p:sp>
      <p:sp>
        <p:nvSpPr>
          <p:cNvPr id="11" name="Text 9"/>
          <p:cNvSpPr txBox="1"/>
          <p:nvPr/>
        </p:nvSpPr>
        <p:spPr>
          <a:xfrm>
            <a:off x="4709160" y="2615184"/>
            <a:ext cx="3108960" cy="320040"/>
          </a:xfrm>
          <a:prstGeom prst="rect">
            <a:avLst/>
          </a:prstGeom>
          <a:noFill/>
          <a:ln/>
        </p:spPr>
        <p:txBody>
          <a:bodyPr wrap="square" lIns="0" tIns="0" rIns="0" bIns="0" rtlCol="0" anchor="ctr"/>
          <a:lstStyle/>
          <a:p>
            <a:pPr indent="0" marL="0">
              <a:buNone/>
            </a:pPr>
            <a:r>
              <a:rPr lang="en-US" sz="1100" dirty="0">
                <a:solidFill>
                  <a:srgbClr val="43525F"/>
                </a:solidFill>
                <a:latin typeface="Calibri" pitchFamily="34" charset="0"/>
                <a:ea typeface="Calibri" pitchFamily="34" charset="-122"/>
                <a:cs typeface="Calibri" pitchFamily="34" charset="-120"/>
              </a:rPr>
              <a:t>EUR/kWh: energy 0.110 plus taxes 0.018</a:t>
            </a:r>
            <a:endParaRPr lang="en-US" sz="1100" dirty="0"/>
          </a:p>
        </p:txBody>
      </p:sp>
      <p:sp>
        <p:nvSpPr>
          <p:cNvPr id="12" name="Shape 10"/>
          <p:cNvSpPr/>
          <p:nvPr/>
        </p:nvSpPr>
        <p:spPr>
          <a:xfrm>
            <a:off x="8321040" y="1691640"/>
            <a:ext cx="3566160" cy="1325880"/>
          </a:xfrm>
          <a:prstGeom prst="roundRect">
            <a:avLst>
              <a:gd name="adj" fmla="val 5517"/>
            </a:avLst>
          </a:prstGeom>
          <a:solidFill>
            <a:srgbClr val="F2F5F8"/>
          </a:solidFill>
          <a:ln w="12700">
            <a:solidFill>
              <a:srgbClr val="DDE3E9"/>
            </a:solidFill>
            <a:prstDash val="solid"/>
          </a:ln>
        </p:spPr>
        <p:txBody>
          <a:bodyPr/>
          <a:p/>
        </p:txBody>
      </p:sp>
      <p:sp>
        <p:nvSpPr>
          <p:cNvPr id="13" name="Text 11"/>
          <p:cNvSpPr txBox="1"/>
          <p:nvPr/>
        </p:nvSpPr>
        <p:spPr>
          <a:xfrm>
            <a:off x="8549640" y="1828800"/>
            <a:ext cx="3108960" cy="274320"/>
          </a:xfrm>
          <a:prstGeom prst="rect">
            <a:avLst/>
          </a:prstGeom>
          <a:noFill/>
          <a:ln/>
        </p:spPr>
        <p:txBody>
          <a:bodyPr wrap="square" lIns="0" tIns="0" rIns="0" bIns="0" rtlCol="0" anchor="ctr"/>
          <a:lstStyle/>
          <a:p>
            <a:pPr indent="0" marL="0">
              <a:buNone/>
            </a:pPr>
            <a:r>
              <a:rPr lang="en-US" sz="1150" dirty="0">
                <a:solidFill>
                  <a:srgbClr val="43525F"/>
                </a:solidFill>
                <a:latin typeface="Calibri" pitchFamily="34" charset="0"/>
                <a:ea typeface="Calibri" pitchFamily="34" charset="-122"/>
                <a:cs typeface="Calibri" pitchFamily="34" charset="-120"/>
              </a:rPr>
              <a:t>PAYBACK SPAN ACROSS THE CAPEX RANGE</a:t>
            </a:r>
            <a:endParaRPr lang="en-US" sz="1150" dirty="0"/>
          </a:p>
        </p:txBody>
      </p:sp>
      <p:sp>
        <p:nvSpPr>
          <p:cNvPr id="14" name="Text 12"/>
          <p:cNvSpPr txBox="1"/>
          <p:nvPr/>
        </p:nvSpPr>
        <p:spPr>
          <a:xfrm>
            <a:off x="8549640" y="2121408"/>
            <a:ext cx="3108960" cy="502920"/>
          </a:xfrm>
          <a:prstGeom prst="rect">
            <a:avLst/>
          </a:prstGeom>
          <a:noFill/>
          <a:ln/>
        </p:spPr>
        <p:txBody>
          <a:bodyPr wrap="square" lIns="0" tIns="0" rIns="0" bIns="0" rtlCol="0" anchor="ctr"/>
          <a:lstStyle/>
          <a:p>
            <a:pPr indent="0" marL="0">
              <a:buNone/>
            </a:pPr>
            <a:r>
              <a:rPr lang="en-US" sz="2400" b="1" dirty="0">
                <a:solidFill>
                  <a:srgbClr val="2A78D6"/>
                </a:solidFill>
                <a:latin typeface="Cambria" pitchFamily="34" charset="0"/>
                <a:ea typeface="Cambria" pitchFamily="34" charset="-122"/>
                <a:cs typeface="Cambria" pitchFamily="34" charset="-120"/>
              </a:rPr>
              <a:t>6.0-11.1</a:t>
            </a:r>
            <a:endParaRPr lang="en-US" sz="2400" dirty="0"/>
          </a:p>
        </p:txBody>
      </p:sp>
      <p:sp>
        <p:nvSpPr>
          <p:cNvPr id="15" name="Text 13"/>
          <p:cNvSpPr txBox="1"/>
          <p:nvPr/>
        </p:nvSpPr>
        <p:spPr>
          <a:xfrm>
            <a:off x="8549640" y="2615184"/>
            <a:ext cx="3108960" cy="320040"/>
          </a:xfrm>
          <a:prstGeom prst="rect">
            <a:avLst/>
          </a:prstGeom>
          <a:noFill/>
          <a:ln/>
        </p:spPr>
        <p:txBody>
          <a:bodyPr wrap="square" lIns="0" tIns="0" rIns="0" bIns="0" rtlCol="0" anchor="ctr"/>
          <a:lstStyle/>
          <a:p>
            <a:pPr indent="0" marL="0">
              <a:buNone/>
            </a:pPr>
            <a:r>
              <a:rPr lang="en-US" sz="1100" dirty="0">
                <a:solidFill>
                  <a:srgbClr val="43525F"/>
                </a:solidFill>
                <a:latin typeface="Calibri" pitchFamily="34" charset="0"/>
                <a:ea typeface="Calibri" pitchFamily="34" charset="-122"/>
                <a:cs typeface="Calibri" pitchFamily="34" charset="-120"/>
              </a:rPr>
              <a:t>years, at 700 to 1 300 EUR/kWp</a:t>
            </a:r>
            <a:endParaRPr lang="en-US" sz="1100" dirty="0"/>
          </a:p>
        </p:txBody>
      </p:sp>
      <p:sp>
        <p:nvSpPr>
          <p:cNvPr id="16" name="Text 14"/>
          <p:cNvSpPr txBox="1"/>
          <p:nvPr/>
        </p:nvSpPr>
        <p:spPr>
          <a:xfrm>
            <a:off x="640080" y="3291840"/>
            <a:ext cx="5120640" cy="274320"/>
          </a:xfrm>
          <a:prstGeom prst="rect">
            <a:avLst/>
          </a:prstGeom>
          <a:noFill/>
          <a:ln/>
        </p:spPr>
        <p:txBody>
          <a:bodyPr wrap="square" lIns="0" tIns="0" rIns="0" bIns="0" rtlCol="0" anchor="ctr"/>
          <a:lstStyle/>
          <a:p>
            <a:pPr indent="0" marL="0">
              <a:buNone/>
            </a:pPr>
            <a:r>
              <a:rPr lang="en-US" sz="1150" b="1" dirty="0">
                <a:solidFill>
                  <a:srgbClr val="43525F"/>
                </a:solidFill>
                <a:latin typeface="Calibri" pitchFamily="34" charset="0"/>
                <a:ea typeface="Calibri" pitchFamily="34" charset="-122"/>
                <a:cs typeface="Calibri" pitchFamily="34" charset="-120"/>
              </a:rPr>
              <a:t>HOW THE NUMBERS WERE CHECKED</a:t>
            </a:r>
            <a:endParaRPr lang="en-US" sz="1150" dirty="0"/>
          </a:p>
        </p:txBody>
      </p:sp>
      <p:sp>
        <p:nvSpPr>
          <p:cNvPr id="17" name="Text 15"/>
          <p:cNvSpPr txBox="1"/>
          <p:nvPr/>
        </p:nvSpPr>
        <p:spPr>
          <a:xfrm>
            <a:off x="640080" y="3611880"/>
            <a:ext cx="5120640" cy="228600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  Self-consumption is computed hour by hour as min(generation, load). Netting over a month would let August sunshine cancel a February night.
•  PVGIS timestamps are UTC. That was verified, not assumed: June output peaks at the hour solar noon falls for that longitude.
•  Generation and prices are joined on the UTC hour, so the clock change cannot silently drop an hour.
•  Network charges are partly capacity-based and do not fall when consumption does, so the model runs three avoided-cost scenarios and reports all three.</a:t>
            </a:r>
            <a:endParaRPr lang="en-US" sz="1300" dirty="0"/>
          </a:p>
        </p:txBody>
      </p:sp>
      <p:sp>
        <p:nvSpPr>
          <p:cNvPr id="18" name="Text 16"/>
          <p:cNvSpPr txBox="1"/>
          <p:nvPr/>
        </p:nvSpPr>
        <p:spPr>
          <a:xfrm>
            <a:off x="6035040" y="3291840"/>
            <a:ext cx="5120640" cy="274320"/>
          </a:xfrm>
          <a:prstGeom prst="rect">
            <a:avLst/>
          </a:prstGeom>
          <a:noFill/>
          <a:ln/>
        </p:spPr>
        <p:txBody>
          <a:bodyPr wrap="square" lIns="0" tIns="0" rIns="0" bIns="0" rtlCol="0" anchor="ctr"/>
          <a:lstStyle/>
          <a:p>
            <a:pPr indent="0" marL="0">
              <a:buNone/>
            </a:pPr>
            <a:r>
              <a:rPr lang="en-US" sz="1150" b="1" dirty="0">
                <a:solidFill>
                  <a:srgbClr val="43525F"/>
                </a:solidFill>
                <a:latin typeface="Calibri" pitchFamily="34" charset="0"/>
                <a:ea typeface="Calibri" pitchFamily="34" charset="-122"/>
                <a:cs typeface="Calibri" pitchFamily="34" charset="-120"/>
              </a:rPr>
              <a:t>WHAT THIS ANALYSIS CANNOT TELL YOU</a:t>
            </a:r>
            <a:endParaRPr lang="en-US" sz="1150" dirty="0"/>
          </a:p>
        </p:txBody>
      </p:sp>
      <p:sp>
        <p:nvSpPr>
          <p:cNvPr id="19" name="Text 17"/>
          <p:cNvSpPr txBox="1"/>
          <p:nvPr/>
        </p:nvSpPr>
        <p:spPr>
          <a:xfrm>
            <a:off x="6035040" y="3611880"/>
            <a:ext cx="5120640" cy="228600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  Stylised load profiles, not metered customer data. A real site has shutdowns, seasonality and production peaks.
•  Simple payback, undiscounted, before any subsidy, grant or tax treatment. The ranking between customers is the durable result; the absolute years move with the quote.
•  Generation is from 2023, the most recent year PVGIS publishes hourly. The solar resource varies about 5% year to year.
•  City-centre coordinates stand in for a site in that region. A real project uses the roof's own orientation, pitch and shading survey.</a:t>
            </a:r>
            <a:endParaRPr lang="en-US" sz="1300" dirty="0"/>
          </a:p>
        </p:txBody>
      </p:sp>
      <p:sp>
        <p:nvSpPr>
          <p:cNvPr id="20" name="Text 18"/>
          <p:cNvSpPr txBox="1"/>
          <p:nvPr/>
        </p:nvSpPr>
        <p:spPr>
          <a:xfrm>
            <a:off x="640080" y="6400800"/>
            <a:ext cx="9144000" cy="274320"/>
          </a:xfrm>
          <a:prstGeom prst="rect">
            <a:avLst/>
          </a:prstGeom>
          <a:noFill/>
          <a:ln/>
        </p:spPr>
        <p:txBody>
          <a:bodyPr wrap="square" lIns="0" tIns="0" rIns="0" bIns="0" rtlCol="0" anchor="ctr"/>
          <a:lstStyle/>
          <a:p>
            <a:pPr indent="0" marL="0">
              <a:buNone/>
            </a:pPr>
            <a:r>
              <a:rPr lang="en-US" sz="1050" dirty="0">
                <a:solidFill>
                  <a:srgbClr val="43525F"/>
                </a:solidFill>
                <a:latin typeface="Calibri" pitchFamily="34" charset="0"/>
                <a:ea typeface="Calibri" pitchFamily="34" charset="-122"/>
                <a:cs typeface="Calibri" pitchFamily="34" charset="-120"/>
              </a:rPr>
              <a:t>Sources: PVGIS (EC JRC), energy-charts.info (Fraunhofer ISE), Eurostat  |  2023 hourly, 2,000 MWh/year site</a:t>
            </a:r>
            <a:endParaRPr lang="en-US" sz="1050" dirty="0"/>
          </a:p>
        </p:txBody>
      </p:sp>
      <p:sp>
        <p:nvSpPr>
          <p:cNvPr id="21" name="Text 19"/>
          <p:cNvSpPr txBox="1"/>
          <p:nvPr/>
        </p:nvSpPr>
        <p:spPr>
          <a:xfrm>
            <a:off x="10972800" y="6400800"/>
            <a:ext cx="548640" cy="274320"/>
          </a:xfrm>
          <a:prstGeom prst="rect">
            <a:avLst/>
          </a:prstGeom>
          <a:noFill/>
          <a:ln/>
        </p:spPr>
        <p:txBody>
          <a:bodyPr wrap="square" lIns="0" tIns="0" rIns="0" bIns="0" rtlCol="0" anchor="ctr"/>
          <a:lstStyle/>
          <a:p>
            <a:pPr algn="r" indent="0" marL="0">
              <a:buNone/>
            </a:pPr>
            <a:r>
              <a:rPr lang="en-US" sz="1050" dirty="0">
                <a:solidFill>
                  <a:srgbClr val="43525F"/>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Rooftop solar: which customers, and how big</dc:title>
  <dc:subject>PptxGenJS Presentation</dc:subject>
  <dc:creator>Commercial analysis</dc:creator>
  <cp:lastModifiedBy>Commercial analysis</cp:lastModifiedBy>
  <cp:revision>1</cp:revision>
  <dcterms:created xsi:type="dcterms:W3CDTF">2026-09-15T13:00:11Z</dcterms:created>
  <dcterms:modified xsi:type="dcterms:W3CDTF">2026-09-15T13:00:11Z</dcterms:modified>
</cp:coreProperties>
</file>