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43A"/>
        </a:solidFill>
      </p:bgPr>
    </p:bg>
    <p:spTree>
      <p:nvGrpSpPr>
        <p:cNvPr id="1" name=""/>
        <p:cNvGrpSpPr/>
        <p:nvPr/>
      </p:nvGrpSpPr>
      <p:grpSpPr>
        <a:xfrm>
          <a:off x="0" y="0"/>
          <a:ext cx="0" cy="0"/>
          <a:chOff x="0" y="0"/>
          <a:chExt cx="0" cy="0"/>
        </a:xfrm>
      </p:grpSpPr>
      <p:sp>
        <p:nvSpPr>
          <p:cNvPr id="2" name="Text 0"/>
          <p:cNvSpPr txBox="1"/>
          <p:nvPr/>
        </p:nvSpPr>
        <p:spPr>
          <a:xfrm>
            <a:off x="640080" y="2103120"/>
            <a:ext cx="9509760" cy="14630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What a Czech industrial
electricity bill is made of</a:t>
            </a:r>
            <a:endParaRPr lang="en-US" sz="4000" dirty="0"/>
          </a:p>
        </p:txBody>
      </p:sp>
      <p:sp>
        <p:nvSpPr>
          <p:cNvPr id="3" name="Text 1"/>
          <p:cNvSpPr txBox="1"/>
          <p:nvPr/>
        </p:nvSpPr>
        <p:spPr>
          <a:xfrm>
            <a:off x="640080" y="3611880"/>
            <a:ext cx="8686800" cy="822960"/>
          </a:xfrm>
          <a:prstGeom prst="rect">
            <a:avLst/>
          </a:prstGeom>
          <a:noFill/>
          <a:ln/>
        </p:spPr>
        <p:txBody>
          <a:bodyPr wrap="square" lIns="0" tIns="0" rIns="0" bIns="0" rtlCol="0" anchor="ctr"/>
          <a:lstStyle/>
          <a:p>
            <a:pPr indent="0" marL="0">
              <a:buNone/>
            </a:pPr>
            <a:r>
              <a:rPr lang="en-US" sz="1600" dirty="0">
                <a:solidFill>
                  <a:srgbClr val="9FB3C8"/>
                </a:solidFill>
                <a:latin typeface="Calibri" pitchFamily="34" charset="0"/>
                <a:ea typeface="Calibri" pitchFamily="34" charset="-122"/>
                <a:cs typeface="Calibri" pitchFamily="34" charset="-120"/>
              </a:rPr>
              <a:t>And how much of it a supplier can actually compete on. Czechia benchmarked against its five neighbouring markets and the EU average.</a:t>
            </a:r>
            <a:endParaRPr lang="en-US" sz="1600" dirty="0"/>
          </a:p>
        </p:txBody>
      </p:sp>
      <p:sp>
        <p:nvSpPr>
          <p:cNvPr id="4" name="Text 2"/>
          <p:cNvSpPr txBox="1"/>
          <p:nvPr/>
        </p:nvSpPr>
        <p:spPr>
          <a:xfrm>
            <a:off x="640080" y="5943600"/>
            <a:ext cx="7772400" cy="365760"/>
          </a:xfrm>
          <a:prstGeom prst="rect">
            <a:avLst/>
          </a:prstGeom>
          <a:noFill/>
          <a:ln/>
        </p:spPr>
        <p:txBody>
          <a:bodyPr wrap="square" lIns="0" tIns="0" rIns="0" bIns="0" rtlCol="0" anchor="ctr"/>
          <a:lstStyle/>
          <a:p>
            <a:pPr indent="0" marL="0">
              <a:buNone/>
            </a:pPr>
            <a:r>
              <a:rPr lang="en-US" sz="1200" dirty="0">
                <a:solidFill>
                  <a:srgbClr val="9FB3C8"/>
                </a:solidFill>
                <a:latin typeface="Calibri" pitchFamily="34" charset="0"/>
                <a:ea typeface="Calibri" pitchFamily="34" charset="-122"/>
                <a:cs typeface="Calibri" pitchFamily="34" charset="-120"/>
              </a:rPr>
              <a:t>Source: Eurostat, last updated 2026-08-11. Band 2 000-19 999 MWh, excluding VAT.</a:t>
            </a:r>
            <a:endParaRPr lang="en-US" sz="1200" dirty="0"/>
          </a:p>
        </p:txBody>
      </p:sp>
      <p:sp>
        <p:nvSpPr>
          <p:cNvPr id="5" name="Text 3"/>
          <p:cNvSpPr txBox="1"/>
          <p:nvPr/>
        </p:nvSpPr>
        <p:spPr>
          <a:xfrm>
            <a:off x="7863840" y="5943600"/>
            <a:ext cx="3657600" cy="365760"/>
          </a:xfrm>
          <a:prstGeom prst="rect">
            <a:avLst/>
          </a:prstGeom>
          <a:noFill/>
          <a:ln/>
        </p:spPr>
        <p:txBody>
          <a:bodyPr wrap="square" lIns="0" tIns="0" rIns="0" bIns="0" rtlCol="0" anchor="ctr"/>
          <a:lstStyle/>
          <a:p>
            <a:pPr algn="r" indent="0" marL="0">
              <a:buNone/>
            </a:pPr>
            <a:r>
              <a:rPr lang="en-US" sz="1200" dirty="0">
                <a:solidFill>
                  <a:srgbClr val="9FB3C8"/>
                </a:solidFill>
                <a:latin typeface="Calibri" pitchFamily="34" charset="0"/>
                <a:ea typeface="Calibri" pitchFamily="34" charset="-122"/>
                <a:cs typeface="Calibri" pitchFamily="34" charset="-120"/>
              </a:rPr>
              <a:t>Generated 19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000" b="1" dirty="0">
                <a:solidFill>
                  <a:srgbClr val="12243A"/>
                </a:solidFill>
                <a:latin typeface="Cambria" pitchFamily="34" charset="0"/>
                <a:ea typeface="Cambria" pitchFamily="34" charset="-122"/>
                <a:cs typeface="Cambria" pitchFamily="34" charset="-120"/>
              </a:rPr>
              <a:t>Two thirds of the bill is ours to price</a:t>
            </a:r>
            <a:endParaRPr lang="en-US" sz="3000" dirty="0"/>
          </a:p>
        </p:txBody>
      </p:sp>
      <p:sp>
        <p:nvSpPr>
          <p:cNvPr id="3" name="Text 1"/>
          <p:cNvSpPr txBox="1"/>
          <p:nvPr/>
        </p:nvSpPr>
        <p:spPr>
          <a:xfrm>
            <a:off x="640080" y="1133856"/>
            <a:ext cx="10881360" cy="365760"/>
          </a:xfrm>
          <a:prstGeom prst="rect">
            <a:avLst/>
          </a:prstGeom>
          <a:noFill/>
          <a:ln/>
        </p:spPr>
        <p:txBody>
          <a:bodyPr wrap="square" lIns="0" tIns="0" rIns="0" bIns="0" rtlCol="0" anchor="ctr"/>
          <a:lstStyle/>
          <a:p>
            <a:pPr indent="0" marL="0">
              <a:buNone/>
            </a:pPr>
            <a:r>
              <a:rPr lang="en-US" sz="1400" dirty="0">
                <a:solidFill>
                  <a:srgbClr val="43525F"/>
                </a:solidFill>
                <a:latin typeface="Calibri" pitchFamily="34" charset="0"/>
                <a:ea typeface="Calibri" pitchFamily="34" charset="-122"/>
                <a:cs typeface="Calibri" pitchFamily="34" charset="-120"/>
              </a:rPr>
              <a:t>Mid-size industrial consumers (2 000-19 999 MWh a year), 2025-S2, excluding VAT.</a:t>
            </a:r>
            <a:endParaRPr lang="en-US" sz="1400" dirty="0"/>
          </a:p>
        </p:txBody>
      </p:sp>
      <p:sp>
        <p:nvSpPr>
          <p:cNvPr id="4" name="Shape 2"/>
          <p:cNvSpPr/>
          <p:nvPr/>
        </p:nvSpPr>
        <p:spPr>
          <a:xfrm>
            <a:off x="640080" y="1691640"/>
            <a:ext cx="2688336" cy="1600200"/>
          </a:xfrm>
          <a:prstGeom prst="roundRect">
            <a:avLst>
              <a:gd name="adj" fmla="val 4571"/>
            </a:avLst>
          </a:prstGeom>
          <a:solidFill>
            <a:srgbClr val="F2F5F8"/>
          </a:solidFill>
          <a:ln w="12700">
            <a:solidFill>
              <a:srgbClr val="DDE3E9"/>
            </a:solidFill>
            <a:prstDash val="solid"/>
          </a:ln>
        </p:spPr>
        <p:txBody>
          <a:bodyPr/>
          <a:p/>
        </p:txBody>
      </p:sp>
      <p:sp>
        <p:nvSpPr>
          <p:cNvPr id="5" name="Text 3"/>
          <p:cNvSpPr txBox="1"/>
          <p:nvPr/>
        </p:nvSpPr>
        <p:spPr>
          <a:xfrm>
            <a:off x="841248" y="1847088"/>
            <a:ext cx="2286000" cy="457200"/>
          </a:xfrm>
          <a:prstGeom prst="rect">
            <a:avLst/>
          </a:prstGeom>
          <a:noFill/>
          <a:ln/>
        </p:spPr>
        <p:txBody>
          <a:bodyPr wrap="square" lIns="0" tIns="0" rIns="0" bIns="0" rtlCol="0" anchor="ctr"/>
          <a:lstStyle/>
          <a:p>
            <a:pPr indent="0" marL="0">
              <a:buNone/>
            </a:pPr>
            <a:r>
              <a:rPr lang="en-US" sz="1150" dirty="0">
                <a:solidFill>
                  <a:srgbClr val="43525F"/>
                </a:solidFill>
                <a:latin typeface="Calibri" pitchFamily="34" charset="0"/>
                <a:ea typeface="Calibri" pitchFamily="34" charset="-122"/>
                <a:cs typeface="Calibri" pitchFamily="34" charset="-120"/>
              </a:rPr>
              <a:t>CZECH PRICE</a:t>
            </a:r>
            <a:endParaRPr lang="en-US" sz="1150" dirty="0"/>
          </a:p>
        </p:txBody>
      </p:sp>
      <p:sp>
        <p:nvSpPr>
          <p:cNvPr id="6" name="Text 4"/>
          <p:cNvSpPr txBox="1"/>
          <p:nvPr/>
        </p:nvSpPr>
        <p:spPr>
          <a:xfrm>
            <a:off x="841248" y="2286000"/>
            <a:ext cx="2286000" cy="548640"/>
          </a:xfrm>
          <a:prstGeom prst="rect">
            <a:avLst/>
          </a:prstGeom>
          <a:noFill/>
          <a:ln/>
        </p:spPr>
        <p:txBody>
          <a:bodyPr wrap="square" lIns="0" tIns="0" rIns="0" bIns="0" rtlCol="0" anchor="ctr"/>
          <a:lstStyle/>
          <a:p>
            <a:pPr indent="0" marL="0">
              <a:buNone/>
            </a:pPr>
            <a:r>
              <a:rPr lang="en-US" sz="2600" b="1" dirty="0">
                <a:solidFill>
                  <a:srgbClr val="12243A"/>
                </a:solidFill>
                <a:latin typeface="Cambria" pitchFamily="34" charset="0"/>
                <a:ea typeface="Cambria" pitchFamily="34" charset="-122"/>
                <a:cs typeface="Cambria" pitchFamily="34" charset="-120"/>
              </a:rPr>
              <a:t>16.4c</a:t>
            </a:r>
            <a:endParaRPr lang="en-US" sz="2600" dirty="0"/>
          </a:p>
        </p:txBody>
      </p:sp>
      <p:sp>
        <p:nvSpPr>
          <p:cNvPr id="7" name="Text 5"/>
          <p:cNvSpPr txBox="1"/>
          <p:nvPr/>
        </p:nvSpPr>
        <p:spPr>
          <a:xfrm>
            <a:off x="841248" y="2816352"/>
            <a:ext cx="2286000" cy="411480"/>
          </a:xfrm>
          <a:prstGeom prst="rect">
            <a:avLst/>
          </a:prstGeom>
          <a:noFill/>
          <a:ln/>
        </p:spPr>
        <p:txBody>
          <a:bodyPr wrap="square" lIns="0" tIns="0" rIns="0" bIns="0" rtlCol="0" anchor="ctr"/>
          <a:lstStyle/>
          <a:p>
            <a:pPr indent="0" marL="0">
              <a:buNone/>
            </a:pPr>
            <a:r>
              <a:rPr lang="en-US" sz="1100" dirty="0">
                <a:solidFill>
                  <a:srgbClr val="43525F"/>
                </a:solidFill>
                <a:latin typeface="Calibri" pitchFamily="34" charset="0"/>
                <a:ea typeface="Calibri" pitchFamily="34" charset="-122"/>
                <a:cs typeface="Calibri" pitchFamily="34" charset="-120"/>
              </a:rPr>
              <a:t>EUR cents per kWh, +2.5% vs the EU average</a:t>
            </a:r>
            <a:endParaRPr lang="en-US" sz="1100" dirty="0"/>
          </a:p>
        </p:txBody>
      </p:sp>
      <p:sp>
        <p:nvSpPr>
          <p:cNvPr id="8" name="Shape 6"/>
          <p:cNvSpPr/>
          <p:nvPr/>
        </p:nvSpPr>
        <p:spPr>
          <a:xfrm>
            <a:off x="3584448" y="1691640"/>
            <a:ext cx="2688336" cy="1600200"/>
          </a:xfrm>
          <a:prstGeom prst="roundRect">
            <a:avLst>
              <a:gd name="adj" fmla="val 4571"/>
            </a:avLst>
          </a:prstGeom>
          <a:solidFill>
            <a:srgbClr val="F2F5F8"/>
          </a:solidFill>
          <a:ln w="12700">
            <a:solidFill>
              <a:srgbClr val="DDE3E9"/>
            </a:solidFill>
            <a:prstDash val="solid"/>
          </a:ln>
        </p:spPr>
        <p:txBody>
          <a:bodyPr/>
          <a:p/>
        </p:txBody>
      </p:sp>
      <p:sp>
        <p:nvSpPr>
          <p:cNvPr id="9" name="Text 7"/>
          <p:cNvSpPr txBox="1"/>
          <p:nvPr/>
        </p:nvSpPr>
        <p:spPr>
          <a:xfrm>
            <a:off x="3785616" y="1847088"/>
            <a:ext cx="2286000" cy="457200"/>
          </a:xfrm>
          <a:prstGeom prst="rect">
            <a:avLst/>
          </a:prstGeom>
          <a:noFill/>
          <a:ln/>
        </p:spPr>
        <p:txBody>
          <a:bodyPr wrap="square" lIns="0" tIns="0" rIns="0" bIns="0" rtlCol="0" anchor="ctr"/>
          <a:lstStyle/>
          <a:p>
            <a:pPr indent="0" marL="0">
              <a:buNone/>
            </a:pPr>
            <a:r>
              <a:rPr lang="en-US" sz="1150" dirty="0">
                <a:solidFill>
                  <a:srgbClr val="43525F"/>
                </a:solidFill>
                <a:latin typeface="Calibri" pitchFamily="34" charset="0"/>
                <a:ea typeface="Calibri" pitchFamily="34" charset="-122"/>
                <a:cs typeface="Calibri" pitchFamily="34" charset="-120"/>
              </a:rPr>
              <a:t>RANK AMONG NEIGHBOURS</a:t>
            </a:r>
            <a:endParaRPr lang="en-US" sz="1150" dirty="0"/>
          </a:p>
        </p:txBody>
      </p:sp>
      <p:sp>
        <p:nvSpPr>
          <p:cNvPr id="10" name="Text 8"/>
          <p:cNvSpPr txBox="1"/>
          <p:nvPr/>
        </p:nvSpPr>
        <p:spPr>
          <a:xfrm>
            <a:off x="3785616" y="2286000"/>
            <a:ext cx="2286000" cy="548640"/>
          </a:xfrm>
          <a:prstGeom prst="rect">
            <a:avLst/>
          </a:prstGeom>
          <a:noFill/>
          <a:ln/>
        </p:spPr>
        <p:txBody>
          <a:bodyPr wrap="square" lIns="0" tIns="0" rIns="0" bIns="0" rtlCol="0" anchor="ctr"/>
          <a:lstStyle/>
          <a:p>
            <a:pPr indent="0" marL="0">
              <a:buNone/>
            </a:pPr>
            <a:r>
              <a:rPr lang="en-US" sz="2600" b="1" dirty="0">
                <a:solidFill>
                  <a:srgbClr val="12243A"/>
                </a:solidFill>
                <a:latin typeface="Cambria" pitchFamily="34" charset="0"/>
                <a:ea typeface="Cambria" pitchFamily="34" charset="-122"/>
                <a:cs typeface="Cambria" pitchFamily="34" charset="-120"/>
              </a:rPr>
              <a:t>1 of 6</a:t>
            </a:r>
            <a:endParaRPr lang="en-US" sz="2600" dirty="0"/>
          </a:p>
        </p:txBody>
      </p:sp>
      <p:sp>
        <p:nvSpPr>
          <p:cNvPr id="11" name="Text 9"/>
          <p:cNvSpPr txBox="1"/>
          <p:nvPr/>
        </p:nvSpPr>
        <p:spPr>
          <a:xfrm>
            <a:off x="3785616" y="2816352"/>
            <a:ext cx="2286000" cy="411480"/>
          </a:xfrm>
          <a:prstGeom prst="rect">
            <a:avLst/>
          </a:prstGeom>
          <a:noFill/>
          <a:ln/>
        </p:spPr>
        <p:txBody>
          <a:bodyPr wrap="square" lIns="0" tIns="0" rIns="0" bIns="0" rtlCol="0" anchor="ctr"/>
          <a:lstStyle/>
          <a:p>
            <a:pPr indent="0" marL="0">
              <a:buNone/>
            </a:pPr>
            <a:r>
              <a:rPr lang="en-US" sz="1100" dirty="0">
                <a:solidFill>
                  <a:srgbClr val="43525F"/>
                </a:solidFill>
                <a:latin typeface="Calibri" pitchFamily="34" charset="0"/>
                <a:ea typeface="Calibri" pitchFamily="34" charset="-122"/>
                <a:cs typeface="Calibri" pitchFamily="34" charset="-120"/>
              </a:rPr>
              <a:t>cheapest is Czechia, dearest is Germany</a:t>
            </a:r>
            <a:endParaRPr lang="en-US" sz="1100" dirty="0"/>
          </a:p>
        </p:txBody>
      </p:sp>
      <p:sp>
        <p:nvSpPr>
          <p:cNvPr id="12" name="Shape 10"/>
          <p:cNvSpPr/>
          <p:nvPr/>
        </p:nvSpPr>
        <p:spPr>
          <a:xfrm>
            <a:off x="6528816" y="1691640"/>
            <a:ext cx="2688336" cy="1600200"/>
          </a:xfrm>
          <a:prstGeom prst="roundRect">
            <a:avLst>
              <a:gd name="adj" fmla="val 4571"/>
            </a:avLst>
          </a:prstGeom>
          <a:solidFill>
            <a:srgbClr val="F2F5F8"/>
          </a:solidFill>
          <a:ln w="12700">
            <a:solidFill>
              <a:srgbClr val="DDE3E9"/>
            </a:solidFill>
            <a:prstDash val="solid"/>
          </a:ln>
        </p:spPr>
        <p:txBody>
          <a:bodyPr/>
          <a:p/>
        </p:txBody>
      </p:sp>
      <p:sp>
        <p:nvSpPr>
          <p:cNvPr id="13" name="Text 11"/>
          <p:cNvSpPr txBox="1"/>
          <p:nvPr/>
        </p:nvSpPr>
        <p:spPr>
          <a:xfrm>
            <a:off x="6729984" y="1847088"/>
            <a:ext cx="2286000" cy="457200"/>
          </a:xfrm>
          <a:prstGeom prst="rect">
            <a:avLst/>
          </a:prstGeom>
          <a:noFill/>
          <a:ln/>
        </p:spPr>
        <p:txBody>
          <a:bodyPr wrap="square" lIns="0" tIns="0" rIns="0" bIns="0" rtlCol="0" anchor="ctr"/>
          <a:lstStyle/>
          <a:p>
            <a:pPr indent="0" marL="0">
              <a:buNone/>
            </a:pPr>
            <a:r>
              <a:rPr lang="en-US" sz="1150" dirty="0">
                <a:solidFill>
                  <a:srgbClr val="43525F"/>
                </a:solidFill>
                <a:latin typeface="Calibri" pitchFamily="34" charset="0"/>
                <a:ea typeface="Calibri" pitchFamily="34" charset="-122"/>
                <a:cs typeface="Calibri" pitchFamily="34" charset="-120"/>
              </a:rPr>
              <a:t>COMMODITY SHARE OF THE BILL</a:t>
            </a:r>
            <a:endParaRPr lang="en-US" sz="1150" dirty="0"/>
          </a:p>
        </p:txBody>
      </p:sp>
      <p:sp>
        <p:nvSpPr>
          <p:cNvPr id="14" name="Text 12"/>
          <p:cNvSpPr txBox="1"/>
          <p:nvPr/>
        </p:nvSpPr>
        <p:spPr>
          <a:xfrm>
            <a:off x="6729984" y="2286000"/>
            <a:ext cx="2286000" cy="548640"/>
          </a:xfrm>
          <a:prstGeom prst="rect">
            <a:avLst/>
          </a:prstGeom>
          <a:noFill/>
          <a:ln/>
        </p:spPr>
        <p:txBody>
          <a:bodyPr wrap="square" lIns="0" tIns="0" rIns="0" bIns="0" rtlCol="0" anchor="ctr"/>
          <a:lstStyle/>
          <a:p>
            <a:pPr indent="0" marL="0">
              <a:buNone/>
            </a:pPr>
            <a:r>
              <a:rPr lang="en-US" sz="2600" b="1" dirty="0">
                <a:solidFill>
                  <a:srgbClr val="12243A"/>
                </a:solidFill>
                <a:latin typeface="Cambria" pitchFamily="34" charset="0"/>
                <a:ea typeface="Cambria" pitchFamily="34" charset="-122"/>
                <a:cs typeface="Cambria" pitchFamily="34" charset="-120"/>
              </a:rPr>
              <a:t>66%</a:t>
            </a:r>
            <a:endParaRPr lang="en-US" sz="2600" dirty="0"/>
          </a:p>
        </p:txBody>
      </p:sp>
      <p:sp>
        <p:nvSpPr>
          <p:cNvPr id="15" name="Text 13"/>
          <p:cNvSpPr txBox="1"/>
          <p:nvPr/>
        </p:nvSpPr>
        <p:spPr>
          <a:xfrm>
            <a:off x="6729984" y="2816352"/>
            <a:ext cx="2286000" cy="411480"/>
          </a:xfrm>
          <a:prstGeom prst="rect">
            <a:avLst/>
          </a:prstGeom>
          <a:noFill/>
          <a:ln/>
        </p:spPr>
        <p:txBody>
          <a:bodyPr wrap="square" lIns="0" tIns="0" rIns="0" bIns="0" rtlCol="0" anchor="ctr"/>
          <a:lstStyle/>
          <a:p>
            <a:pPr indent="0" marL="0">
              <a:buNone/>
            </a:pPr>
            <a:r>
              <a:rPr lang="en-US" sz="1100" dirty="0">
                <a:solidFill>
                  <a:srgbClr val="43525F"/>
                </a:solidFill>
                <a:latin typeface="Calibri" pitchFamily="34" charset="0"/>
                <a:ea typeface="Calibri" pitchFamily="34" charset="-122"/>
                <a:cs typeface="Calibri" pitchFamily="34" charset="-120"/>
              </a:rPr>
              <a:t>the part a supplier sets; EU average 62%</a:t>
            </a:r>
            <a:endParaRPr lang="en-US" sz="1100" dirty="0"/>
          </a:p>
        </p:txBody>
      </p:sp>
      <p:sp>
        <p:nvSpPr>
          <p:cNvPr id="16" name="Shape 14"/>
          <p:cNvSpPr/>
          <p:nvPr/>
        </p:nvSpPr>
        <p:spPr>
          <a:xfrm>
            <a:off x="9473184" y="1691640"/>
            <a:ext cx="2688336" cy="1600200"/>
          </a:xfrm>
          <a:prstGeom prst="roundRect">
            <a:avLst>
              <a:gd name="adj" fmla="val 4571"/>
            </a:avLst>
          </a:prstGeom>
          <a:solidFill>
            <a:srgbClr val="F2F5F8"/>
          </a:solidFill>
          <a:ln w="12700">
            <a:solidFill>
              <a:srgbClr val="DDE3E9"/>
            </a:solidFill>
            <a:prstDash val="solid"/>
          </a:ln>
        </p:spPr>
        <p:txBody>
          <a:bodyPr/>
          <a:p/>
        </p:txBody>
      </p:sp>
      <p:sp>
        <p:nvSpPr>
          <p:cNvPr id="17" name="Text 15"/>
          <p:cNvSpPr txBox="1"/>
          <p:nvPr/>
        </p:nvSpPr>
        <p:spPr>
          <a:xfrm>
            <a:off x="9674352" y="1847088"/>
            <a:ext cx="2286000" cy="457200"/>
          </a:xfrm>
          <a:prstGeom prst="rect">
            <a:avLst/>
          </a:prstGeom>
          <a:noFill/>
          <a:ln/>
        </p:spPr>
        <p:txBody>
          <a:bodyPr wrap="square" lIns="0" tIns="0" rIns="0" bIns="0" rtlCol="0" anchor="ctr"/>
          <a:lstStyle/>
          <a:p>
            <a:pPr indent="0" marL="0">
              <a:buNone/>
            </a:pPr>
            <a:r>
              <a:rPr lang="en-US" sz="1150" dirty="0">
                <a:solidFill>
                  <a:srgbClr val="43525F"/>
                </a:solidFill>
                <a:latin typeface="Calibri" pitchFamily="34" charset="0"/>
                <a:ea typeface="Calibri" pitchFamily="34" charset="-122"/>
                <a:cs typeface="Calibri" pitchFamily="34" charset="-120"/>
              </a:rPr>
              <a:t>STILL ABOVE PRE-CRISIS</a:t>
            </a:r>
            <a:endParaRPr lang="en-US" sz="1150" dirty="0"/>
          </a:p>
        </p:txBody>
      </p:sp>
      <p:sp>
        <p:nvSpPr>
          <p:cNvPr id="18" name="Text 16"/>
          <p:cNvSpPr txBox="1"/>
          <p:nvPr/>
        </p:nvSpPr>
        <p:spPr>
          <a:xfrm>
            <a:off x="9674352" y="2286000"/>
            <a:ext cx="2286000" cy="548640"/>
          </a:xfrm>
          <a:prstGeom prst="rect">
            <a:avLst/>
          </a:prstGeom>
          <a:noFill/>
          <a:ln/>
        </p:spPr>
        <p:txBody>
          <a:bodyPr wrap="square" lIns="0" tIns="0" rIns="0" bIns="0" rtlCol="0" anchor="ctr"/>
          <a:lstStyle/>
          <a:p>
            <a:pPr indent="0" marL="0">
              <a:buNone/>
            </a:pPr>
            <a:r>
              <a:rPr lang="en-US" sz="2600" b="1" dirty="0">
                <a:solidFill>
                  <a:srgbClr val="12243A"/>
                </a:solidFill>
                <a:latin typeface="Cambria" pitchFamily="34" charset="0"/>
                <a:ea typeface="Cambria" pitchFamily="34" charset="-122"/>
                <a:cs typeface="Cambria" pitchFamily="34" charset="-120"/>
              </a:rPr>
              <a:t>+64.9%</a:t>
            </a:r>
            <a:endParaRPr lang="en-US" sz="2600" dirty="0"/>
          </a:p>
        </p:txBody>
      </p:sp>
      <p:sp>
        <p:nvSpPr>
          <p:cNvPr id="19" name="Text 17"/>
          <p:cNvSpPr txBox="1"/>
          <p:nvPr/>
        </p:nvSpPr>
        <p:spPr>
          <a:xfrm>
            <a:off x="9674352" y="2816352"/>
            <a:ext cx="2286000" cy="411480"/>
          </a:xfrm>
          <a:prstGeom prst="rect">
            <a:avLst/>
          </a:prstGeom>
          <a:noFill/>
          <a:ln/>
        </p:spPr>
        <p:txBody>
          <a:bodyPr wrap="square" lIns="0" tIns="0" rIns="0" bIns="0" rtlCol="0" anchor="ctr"/>
          <a:lstStyle/>
          <a:p>
            <a:pPr indent="0" marL="0">
              <a:buNone/>
            </a:pPr>
            <a:r>
              <a:rPr lang="en-US" sz="1100" dirty="0">
                <a:solidFill>
                  <a:srgbClr val="43525F"/>
                </a:solidFill>
                <a:latin typeface="Calibri" pitchFamily="34" charset="0"/>
                <a:ea typeface="Calibri" pitchFamily="34" charset="-122"/>
                <a:cs typeface="Calibri" pitchFamily="34" charset="-120"/>
              </a:rPr>
              <a:t>against 2021-S2, after peaking in 2023-S1</a:t>
            </a:r>
            <a:endParaRPr lang="en-US" sz="1100" dirty="0"/>
          </a:p>
        </p:txBody>
      </p:sp>
      <p:sp>
        <p:nvSpPr>
          <p:cNvPr id="20" name="Text 18"/>
          <p:cNvSpPr txBox="1"/>
          <p:nvPr/>
        </p:nvSpPr>
        <p:spPr>
          <a:xfrm>
            <a:off x="640080" y="3611880"/>
            <a:ext cx="4572000" cy="274320"/>
          </a:xfrm>
          <a:prstGeom prst="rect">
            <a:avLst/>
          </a:prstGeom>
          <a:noFill/>
          <a:ln/>
        </p:spPr>
        <p:txBody>
          <a:bodyPr wrap="square" lIns="0" tIns="0" rIns="0" bIns="0" rtlCol="0" anchor="ctr"/>
          <a:lstStyle/>
          <a:p>
            <a:pPr indent="0" marL="0">
              <a:buNone/>
            </a:pPr>
            <a:r>
              <a:rPr lang="en-US" sz="1150" b="1" dirty="0">
                <a:solidFill>
                  <a:srgbClr val="43525F"/>
                </a:solidFill>
                <a:latin typeface="Calibri" pitchFamily="34" charset="0"/>
                <a:ea typeface="Calibri" pitchFamily="34" charset="-122"/>
                <a:cs typeface="Calibri" pitchFamily="34" charset="-120"/>
              </a:rPr>
              <a:t>THE FINDING</a:t>
            </a:r>
            <a:endParaRPr lang="en-US" sz="1150" dirty="0"/>
          </a:p>
        </p:txBody>
      </p:sp>
      <p:sp>
        <p:nvSpPr>
          <p:cNvPr id="21" name="Text 19"/>
          <p:cNvSpPr txBox="1"/>
          <p:nvPr/>
        </p:nvSpPr>
        <p:spPr>
          <a:xfrm>
            <a:off x="640080" y="3931920"/>
            <a:ext cx="10881360" cy="210312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Czech industry pays 16.4 cents per kWh — the lowest of the six markets compared, 15% below Germany, though still +2.5% against the EU average.
The level matters less to a supplier than the composition. 66% of that bill is energy and supply — the highest share in the group, against 46% in Poland. Network charges and taxes are set by the regulator and the state and are identical whichever supplier a customer signs with.</a:t>
            </a:r>
            <a:endParaRPr lang="en-US" sz="1500" dirty="0"/>
          </a:p>
        </p:txBody>
      </p:sp>
      <p:sp>
        <p:nvSpPr>
          <p:cNvPr id="22" name="Text 20"/>
          <p:cNvSpPr txBox="1"/>
          <p:nvPr/>
        </p:nvSpPr>
        <p:spPr>
          <a:xfrm>
            <a:off x="640080" y="6400800"/>
            <a:ext cx="9144000" cy="274320"/>
          </a:xfrm>
          <a:prstGeom prst="rect">
            <a:avLst/>
          </a:prstGeom>
          <a:noFill/>
          <a:ln/>
        </p:spPr>
        <p:txBody>
          <a:bodyPr wrap="square" lIns="0" tIns="0" rIns="0" bIns="0" rtlCol="0" anchor="ctr"/>
          <a:lstStyle/>
          <a:p>
            <a:pPr indent="0" marL="0">
              <a:buNone/>
            </a:pPr>
            <a:r>
              <a:rPr lang="en-US" sz="1050" dirty="0">
                <a:solidFill>
                  <a:srgbClr val="43525F"/>
                </a:solidFill>
                <a:latin typeface="Calibri" pitchFamily="34" charset="0"/>
                <a:ea typeface="Calibri" pitchFamily="34" charset="-122"/>
                <a:cs typeface="Calibri" pitchFamily="34" charset="-120"/>
              </a:rPr>
              <a:t>Source: Eurostat  |  2025-S2  |  Non-household consumers, excluding VAT</a:t>
            </a:r>
            <a:endParaRPr lang="en-US" sz="1050" dirty="0"/>
          </a:p>
        </p:txBody>
      </p:sp>
      <p:sp>
        <p:nvSpPr>
          <p:cNvPr id="23" name="Text 21"/>
          <p:cNvSpPr txBox="1"/>
          <p:nvPr/>
        </p:nvSpPr>
        <p:spPr>
          <a:xfrm>
            <a:off x="10972800" y="6400800"/>
            <a:ext cx="548640" cy="274320"/>
          </a:xfrm>
          <a:prstGeom prst="rect">
            <a:avLst/>
          </a:prstGeom>
          <a:noFill/>
          <a:ln/>
        </p:spPr>
        <p:txBody>
          <a:bodyPr wrap="square" lIns="0" tIns="0" rIns="0" bIns="0" rtlCol="0" anchor="ctr"/>
          <a:lstStyle/>
          <a:p>
            <a:pPr algn="r" indent="0" marL="0">
              <a:buNone/>
            </a:pPr>
            <a:r>
              <a:rPr lang="en-US" sz="1050" dirty="0">
                <a:solidFill>
                  <a:srgbClr val="43525F"/>
                </a:solidFill>
                <a:latin typeface="Calibri" pitchFamily="34" charset="0"/>
                <a:ea typeface="Calibri" pitchFamily="34" charset="-122"/>
                <a:cs typeface="Calibri" pitchFamily="34" charset="-120"/>
              </a:rPr>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000" b="1" dirty="0">
                <a:solidFill>
                  <a:srgbClr val="12243A"/>
                </a:solidFill>
                <a:latin typeface="Cambria" pitchFamily="34" charset="0"/>
                <a:ea typeface="Cambria" pitchFamily="34" charset="-122"/>
                <a:cs typeface="Cambria" pitchFamily="34" charset="-120"/>
              </a:rPr>
              <a:t>Prices came down, but not all the way back</a:t>
            </a:r>
            <a:endParaRPr lang="en-US" sz="3000" dirty="0"/>
          </a:p>
        </p:txBody>
      </p:sp>
      <p:sp>
        <p:nvSpPr>
          <p:cNvPr id="3" name="Text 1"/>
          <p:cNvSpPr txBox="1"/>
          <p:nvPr/>
        </p:nvSpPr>
        <p:spPr>
          <a:xfrm>
            <a:off x="640080" y="1133856"/>
            <a:ext cx="10881360" cy="365760"/>
          </a:xfrm>
          <a:prstGeom prst="rect">
            <a:avLst/>
          </a:prstGeom>
          <a:noFill/>
          <a:ln/>
        </p:spPr>
        <p:txBody>
          <a:bodyPr wrap="square" lIns="0" tIns="0" rIns="0" bIns="0" rtlCol="0" anchor="ctr"/>
          <a:lstStyle/>
          <a:p>
            <a:pPr indent="0" marL="0">
              <a:buNone/>
            </a:pPr>
            <a:r>
              <a:rPr lang="en-US" sz="1400" dirty="0">
                <a:solidFill>
                  <a:srgbClr val="43525F"/>
                </a:solidFill>
                <a:latin typeface="Calibri" pitchFamily="34" charset="0"/>
                <a:ea typeface="Calibri" pitchFamily="34" charset="-122"/>
                <a:cs typeface="Calibri" pitchFamily="34" charset="-120"/>
              </a:rPr>
              <a:t>Business electricity price, band 2 000-19 999 MWh, since 2015.</a:t>
            </a:r>
            <a:endParaRPr lang="en-US" sz="1400" dirty="0"/>
          </a:p>
        </p:txBody>
      </p:sp>
      <p:sp>
        <p:nvSpPr>
          <p:cNvPr id="6" name="Shape 4"/>
          <p:cNvSpPr/>
          <p:nvPr/>
        </p:nvSpPr>
        <p:spPr>
          <a:xfrm>
            <a:off x="8732520" y="1645920"/>
            <a:ext cx="2788920" cy="4343400"/>
          </a:xfrm>
          <a:prstGeom prst="roundRect">
            <a:avLst>
              <a:gd name="adj" fmla="val 2623"/>
            </a:avLst>
          </a:prstGeom>
          <a:solidFill>
            <a:srgbClr val="F2F5F8"/>
          </a:solidFill>
          <a:ln w="12700">
            <a:solidFill>
              <a:srgbClr val="DDE3E9"/>
            </a:solidFill>
            <a:prstDash val="solid"/>
          </a:ln>
        </p:spPr>
        <p:txBody>
          <a:bodyPr/>
          <a:p/>
        </p:txBody>
      </p:sp>
      <p:sp>
        <p:nvSpPr>
          <p:cNvPr id="7" name="Text 5"/>
          <p:cNvSpPr txBox="1"/>
          <p:nvPr/>
        </p:nvSpPr>
        <p:spPr>
          <a:xfrm>
            <a:off x="8961120" y="1874520"/>
            <a:ext cx="2286000" cy="274320"/>
          </a:xfrm>
          <a:prstGeom prst="rect">
            <a:avLst/>
          </a:prstGeom>
          <a:noFill/>
          <a:ln/>
        </p:spPr>
        <p:txBody>
          <a:bodyPr wrap="square" lIns="0" tIns="0" rIns="0" bIns="0" rtlCol="0" anchor="ctr"/>
          <a:lstStyle/>
          <a:p>
            <a:pPr indent="0" marL="0">
              <a:buNone/>
            </a:pPr>
            <a:r>
              <a:rPr lang="en-US" sz="1150" b="1" dirty="0">
                <a:solidFill>
                  <a:srgbClr val="43525F"/>
                </a:solidFill>
                <a:latin typeface="Calibri" pitchFamily="34" charset="0"/>
                <a:ea typeface="Calibri" pitchFamily="34" charset="-122"/>
                <a:cs typeface="Calibri" pitchFamily="34" charset="-120"/>
              </a:rPr>
              <a:t>WHAT THIS SHOWS</a:t>
            </a:r>
            <a:endParaRPr lang="en-US" sz="1150" dirty="0"/>
          </a:p>
        </p:txBody>
      </p:sp>
      <p:sp>
        <p:nvSpPr>
          <p:cNvPr id="8" name="Text 6"/>
          <p:cNvSpPr txBox="1"/>
          <p:nvPr/>
        </p:nvSpPr>
        <p:spPr>
          <a:xfrm>
            <a:off x="8961120" y="2240280"/>
            <a:ext cx="2286000" cy="3520440"/>
          </a:xfrm>
          <a:prstGeom prst="rect">
            <a:avLst/>
          </a:prstGeom>
          <a:noFill/>
          <a:ln/>
        </p:spPr>
        <p:txBody>
          <a:bodyPr wrap="square" lIns="0" tIns="0" rIns="0" bIns="0" rtlCol="0" anchor="t"/>
          <a:lstStyle/>
          <a:p>
            <a:pPr indent="0" marL="0">
              <a:buNone/>
            </a:pPr>
            <a:r>
              <a:rPr lang="en-US" sz="1300" dirty="0">
                <a:solidFill>
                  <a:srgbClr val="1A1A1A"/>
                </a:solidFill>
                <a:latin typeface="Calibri" pitchFamily="34" charset="0"/>
                <a:ea typeface="Calibri" pitchFamily="34" charset="-122"/>
                <a:cs typeface="Calibri" pitchFamily="34" charset="-120"/>
              </a:rPr>
              <a:t>Czech prices peaked in 2023-S1 at 18.3c, +84.7% on 2021-S2.
They have since fallen 11%, but remain +64.9% above pre-crisis levels.
Czechia moved less violently than its neighbours through 2022-2023. That is worth saying to a customer comparing offers across the border.</a:t>
            </a:r>
            <a:endParaRPr lang="en-US" sz="1300" dirty="0"/>
          </a:p>
        </p:txBody>
      </p:sp>
      <p:sp>
        <p:nvSpPr>
          <p:cNvPr id="9" name="Text 7"/>
          <p:cNvSpPr txBox="1"/>
          <p:nvPr/>
        </p:nvSpPr>
        <p:spPr>
          <a:xfrm>
            <a:off x="640080" y="6400800"/>
            <a:ext cx="9144000" cy="274320"/>
          </a:xfrm>
          <a:prstGeom prst="rect">
            <a:avLst/>
          </a:prstGeom>
          <a:noFill/>
          <a:ln/>
        </p:spPr>
        <p:txBody>
          <a:bodyPr wrap="square" lIns="0" tIns="0" rIns="0" bIns="0" rtlCol="0" anchor="ctr"/>
          <a:lstStyle/>
          <a:p>
            <a:pPr indent="0" marL="0">
              <a:buNone/>
            </a:pPr>
            <a:r>
              <a:rPr lang="en-US" sz="1050" dirty="0">
                <a:solidFill>
                  <a:srgbClr val="43525F"/>
                </a:solidFill>
                <a:latin typeface="Calibri" pitchFamily="34" charset="0"/>
                <a:ea typeface="Calibri" pitchFamily="34" charset="-122"/>
                <a:cs typeface="Calibri" pitchFamily="34" charset="-120"/>
              </a:rPr>
              <a:t>Source: Eurostat  |  2025-S2  |  Non-household consumers, excluding VAT</a:t>
            </a:r>
            <a:endParaRPr lang="en-US" sz="1050" dirty="0"/>
          </a:p>
        </p:txBody>
      </p:sp>
      <p:sp>
        <p:nvSpPr>
          <p:cNvPr id="10" name="Text 8"/>
          <p:cNvSpPr txBox="1"/>
          <p:nvPr/>
        </p:nvSpPr>
        <p:spPr>
          <a:xfrm>
            <a:off x="10972800" y="6400800"/>
            <a:ext cx="548640" cy="274320"/>
          </a:xfrm>
          <a:prstGeom prst="rect">
            <a:avLst/>
          </a:prstGeom>
          <a:noFill/>
          <a:ln/>
        </p:spPr>
        <p:txBody>
          <a:bodyPr wrap="square" lIns="0" tIns="0" rIns="0" bIns="0" rtlCol="0" anchor="ctr"/>
          <a:lstStyle/>
          <a:p>
            <a:pPr algn="r" indent="0" marL="0">
              <a:buNone/>
            </a:pPr>
            <a:r>
              <a:rPr lang="en-US" sz="1050" dirty="0">
                <a:solidFill>
                  <a:srgbClr val="43525F"/>
                </a:solidFill>
                <a:latin typeface="Calibri" pitchFamily="34" charset="0"/>
                <a:ea typeface="Calibri" pitchFamily="34" charset="-122"/>
                <a:cs typeface="Calibri" pitchFamily="34" charset="-120"/>
              </a:rPr>
              <a:t>3</a:t>
            </a:r>
            <a:endParaRPr lang="en-US" sz="1050" dirty="0"/>
          </a:p>
        </p:txBody>
      </p:sp>
      <p:pic>
        <p:nvPicPr>
          <p:cNvPr id="11" name="Picture 10" descr="history.png"/>
          <p:cNvPicPr>
            <a:picLocks noChangeAspect="1"/>
          </p:cNvPicPr>
          <p:nvPr/>
        </p:nvPicPr>
        <p:blipFill>
          <a:blip r:embed="rId3"/>
          <a:stretch>
            <a:fillRect/>
          </a:stretch>
        </p:blipFill>
        <p:spPr>
          <a:xfrm>
            <a:off x="640080" y="1981765"/>
            <a:ext cx="7772400" cy="367170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000" b="1" dirty="0">
                <a:solidFill>
                  <a:srgbClr val="12243A"/>
                </a:solidFill>
                <a:latin typeface="Cambria" pitchFamily="34" charset="0"/>
                <a:ea typeface="Cambria" pitchFamily="34" charset="-122"/>
                <a:cs typeface="Cambria" pitchFamily="34" charset="-120"/>
              </a:rPr>
              <a:t>Czechia is the cheapest of its neighbours</a:t>
            </a:r>
            <a:endParaRPr lang="en-US" sz="3000" dirty="0"/>
          </a:p>
        </p:txBody>
      </p:sp>
      <p:sp>
        <p:nvSpPr>
          <p:cNvPr id="3" name="Text 1"/>
          <p:cNvSpPr txBox="1"/>
          <p:nvPr/>
        </p:nvSpPr>
        <p:spPr>
          <a:xfrm>
            <a:off x="640080" y="1133856"/>
            <a:ext cx="10881360" cy="365760"/>
          </a:xfrm>
          <a:prstGeom prst="rect">
            <a:avLst/>
          </a:prstGeom>
          <a:noFill/>
          <a:ln/>
        </p:spPr>
        <p:txBody>
          <a:bodyPr wrap="square" lIns="0" tIns="0" rIns="0" bIns="0" rtlCol="0" anchor="ctr"/>
          <a:lstStyle/>
          <a:p>
            <a:pPr indent="0" marL="0">
              <a:buNone/>
            </a:pPr>
            <a:r>
              <a:rPr lang="en-US" sz="1400" dirty="0">
                <a:solidFill>
                  <a:srgbClr val="43525F"/>
                </a:solidFill>
                <a:latin typeface="Calibri" pitchFamily="34" charset="0"/>
                <a:ea typeface="Calibri" pitchFamily="34" charset="-122"/>
                <a:cs typeface="Calibri" pitchFamily="34" charset="-120"/>
              </a:rPr>
              <a:t>Price per kWh, 2025-S2, excluding VAT.</a:t>
            </a:r>
            <a:endParaRPr lang="en-US" sz="1400" dirty="0"/>
          </a:p>
        </p:txBody>
      </p:sp>
      <p:sp>
        <p:nvSpPr>
          <p:cNvPr id="6" name="Shape 4"/>
          <p:cNvSpPr/>
          <p:nvPr/>
        </p:nvSpPr>
        <p:spPr>
          <a:xfrm>
            <a:off x="8732520" y="1645920"/>
            <a:ext cx="2788920" cy="4343400"/>
          </a:xfrm>
          <a:prstGeom prst="roundRect">
            <a:avLst>
              <a:gd name="adj" fmla="val 2623"/>
            </a:avLst>
          </a:prstGeom>
          <a:solidFill>
            <a:srgbClr val="F2F5F8"/>
          </a:solidFill>
          <a:ln w="12700">
            <a:solidFill>
              <a:srgbClr val="DDE3E9"/>
            </a:solidFill>
            <a:prstDash val="solid"/>
          </a:ln>
        </p:spPr>
        <p:txBody>
          <a:bodyPr/>
          <a:p/>
        </p:txBody>
      </p:sp>
      <p:sp>
        <p:nvSpPr>
          <p:cNvPr id="7" name="Text 5"/>
          <p:cNvSpPr txBox="1"/>
          <p:nvPr/>
        </p:nvSpPr>
        <p:spPr>
          <a:xfrm>
            <a:off x="8961120" y="1874520"/>
            <a:ext cx="2286000" cy="274320"/>
          </a:xfrm>
          <a:prstGeom prst="rect">
            <a:avLst/>
          </a:prstGeom>
          <a:noFill/>
          <a:ln/>
        </p:spPr>
        <p:txBody>
          <a:bodyPr wrap="square" lIns="0" tIns="0" rIns="0" bIns="0" rtlCol="0" anchor="ctr"/>
          <a:lstStyle/>
          <a:p>
            <a:pPr indent="0" marL="0">
              <a:buNone/>
            </a:pPr>
            <a:r>
              <a:rPr lang="en-US" sz="1150" b="1" dirty="0">
                <a:solidFill>
                  <a:srgbClr val="43525F"/>
                </a:solidFill>
                <a:latin typeface="Calibri" pitchFamily="34" charset="0"/>
                <a:ea typeface="Calibri" pitchFamily="34" charset="-122"/>
                <a:cs typeface="Calibri" pitchFamily="34" charset="-120"/>
              </a:rPr>
              <a:t>WHAT THIS SHOWS</a:t>
            </a:r>
            <a:endParaRPr lang="en-US" sz="1150" dirty="0"/>
          </a:p>
        </p:txBody>
      </p:sp>
      <p:sp>
        <p:nvSpPr>
          <p:cNvPr id="8" name="Text 6"/>
          <p:cNvSpPr txBox="1"/>
          <p:nvPr/>
        </p:nvSpPr>
        <p:spPr>
          <a:xfrm>
            <a:off x="8961120" y="2240280"/>
            <a:ext cx="2286000" cy="3520440"/>
          </a:xfrm>
          <a:prstGeom prst="rect">
            <a:avLst/>
          </a:prstGeom>
          <a:noFill/>
          <a:ln/>
        </p:spPr>
        <p:txBody>
          <a:bodyPr wrap="square" lIns="0" tIns="0" rIns="0" bIns="0" rtlCol="0" anchor="t"/>
          <a:lstStyle/>
          <a:p>
            <a:pPr indent="0" marL="0">
              <a:buNone/>
            </a:pPr>
            <a:r>
              <a:rPr lang="en-US" sz="1300" dirty="0">
                <a:solidFill>
                  <a:srgbClr val="1A1A1A"/>
                </a:solidFill>
                <a:latin typeface="Calibri" pitchFamily="34" charset="0"/>
                <a:ea typeface="Calibri" pitchFamily="34" charset="-122"/>
                <a:cs typeface="Calibri" pitchFamily="34" charset="-120"/>
              </a:rPr>
              <a:t>Czechia 16.4c against Germany 19.2c — a gap of 15%.
The EU average sits below Czechia. So 'cheap' here means cheap against the neighbours a Czech plant competes with for orders. Against Europe as a whole it is a little above the middle.</a:t>
            </a:r>
            <a:endParaRPr lang="en-US" sz="1300" dirty="0"/>
          </a:p>
        </p:txBody>
      </p:sp>
      <p:sp>
        <p:nvSpPr>
          <p:cNvPr id="9" name="Text 7"/>
          <p:cNvSpPr txBox="1"/>
          <p:nvPr/>
        </p:nvSpPr>
        <p:spPr>
          <a:xfrm>
            <a:off x="640080" y="6400800"/>
            <a:ext cx="9144000" cy="274320"/>
          </a:xfrm>
          <a:prstGeom prst="rect">
            <a:avLst/>
          </a:prstGeom>
          <a:noFill/>
          <a:ln/>
        </p:spPr>
        <p:txBody>
          <a:bodyPr wrap="square" lIns="0" tIns="0" rIns="0" bIns="0" rtlCol="0" anchor="ctr"/>
          <a:lstStyle/>
          <a:p>
            <a:pPr indent="0" marL="0">
              <a:buNone/>
            </a:pPr>
            <a:r>
              <a:rPr lang="en-US" sz="1050" dirty="0">
                <a:solidFill>
                  <a:srgbClr val="43525F"/>
                </a:solidFill>
                <a:latin typeface="Calibri" pitchFamily="34" charset="0"/>
                <a:ea typeface="Calibri" pitchFamily="34" charset="-122"/>
                <a:cs typeface="Calibri" pitchFamily="34" charset="-120"/>
              </a:rPr>
              <a:t>Source: Eurostat  |  2025-S2  |  Non-household consumers, excluding VAT</a:t>
            </a:r>
            <a:endParaRPr lang="en-US" sz="1050" dirty="0"/>
          </a:p>
        </p:txBody>
      </p:sp>
      <p:sp>
        <p:nvSpPr>
          <p:cNvPr id="10" name="Text 8"/>
          <p:cNvSpPr txBox="1"/>
          <p:nvPr/>
        </p:nvSpPr>
        <p:spPr>
          <a:xfrm>
            <a:off x="10972800" y="6400800"/>
            <a:ext cx="548640" cy="274320"/>
          </a:xfrm>
          <a:prstGeom prst="rect">
            <a:avLst/>
          </a:prstGeom>
          <a:noFill/>
          <a:ln/>
        </p:spPr>
        <p:txBody>
          <a:bodyPr wrap="square" lIns="0" tIns="0" rIns="0" bIns="0" rtlCol="0" anchor="ctr"/>
          <a:lstStyle/>
          <a:p>
            <a:pPr algn="r" indent="0" marL="0">
              <a:buNone/>
            </a:pPr>
            <a:r>
              <a:rPr lang="en-US" sz="1050" dirty="0">
                <a:solidFill>
                  <a:srgbClr val="43525F"/>
                </a:solidFill>
                <a:latin typeface="Calibri" pitchFamily="34" charset="0"/>
                <a:ea typeface="Calibri" pitchFamily="34" charset="-122"/>
                <a:cs typeface="Calibri" pitchFamily="34" charset="-120"/>
              </a:rPr>
              <a:t>4</a:t>
            </a:r>
            <a:endParaRPr lang="en-US" sz="1050" dirty="0"/>
          </a:p>
        </p:txBody>
      </p:sp>
      <p:pic>
        <p:nvPicPr>
          <p:cNvPr id="11" name="Picture 10" descr="ranking.png"/>
          <p:cNvPicPr>
            <a:picLocks noChangeAspect="1"/>
          </p:cNvPicPr>
          <p:nvPr/>
        </p:nvPicPr>
        <p:blipFill>
          <a:blip r:embed="rId3"/>
          <a:stretch>
            <a:fillRect/>
          </a:stretch>
        </p:blipFill>
        <p:spPr>
          <a:xfrm>
            <a:off x="640080" y="1811674"/>
            <a:ext cx="7772400" cy="401189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000" b="1" dirty="0">
                <a:solidFill>
                  <a:srgbClr val="12243A"/>
                </a:solidFill>
                <a:latin typeface="Cambria" pitchFamily="34" charset="0"/>
                <a:ea typeface="Cambria" pitchFamily="34" charset="-122"/>
                <a:cs typeface="Cambria" pitchFamily="34" charset="-120"/>
              </a:rPr>
              <a:t>Where the money in the bill goes</a:t>
            </a:r>
            <a:endParaRPr lang="en-US" sz="3000" dirty="0"/>
          </a:p>
        </p:txBody>
      </p:sp>
      <p:sp>
        <p:nvSpPr>
          <p:cNvPr id="3" name="Text 1"/>
          <p:cNvSpPr txBox="1"/>
          <p:nvPr/>
        </p:nvSpPr>
        <p:spPr>
          <a:xfrm>
            <a:off x="640080" y="1133856"/>
            <a:ext cx="10881360" cy="365760"/>
          </a:xfrm>
          <a:prstGeom prst="rect">
            <a:avLst/>
          </a:prstGeom>
          <a:noFill/>
          <a:ln/>
        </p:spPr>
        <p:txBody>
          <a:bodyPr wrap="square" lIns="0" tIns="0" rIns="0" bIns="0" rtlCol="0" anchor="ctr"/>
          <a:lstStyle/>
          <a:p>
            <a:pPr indent="0" marL="0">
              <a:buNone/>
            </a:pPr>
            <a:r>
              <a:rPr lang="en-US" sz="1400" dirty="0">
                <a:solidFill>
                  <a:srgbClr val="43525F"/>
                </a:solidFill>
                <a:latin typeface="Calibri" pitchFamily="34" charset="0"/>
                <a:ea typeface="Calibri" pitchFamily="34" charset="-122"/>
                <a:cs typeface="Calibri" pitchFamily="34" charset="-120"/>
              </a:rPr>
              <a:t>Price split into energy &amp; supply, network costs and taxes, 2025. Countries ordered by the share a supplier controls.</a:t>
            </a:r>
            <a:endParaRPr lang="en-US" sz="1400" dirty="0"/>
          </a:p>
        </p:txBody>
      </p:sp>
      <p:sp>
        <p:nvSpPr>
          <p:cNvPr id="6" name="Shape 4"/>
          <p:cNvSpPr/>
          <p:nvPr/>
        </p:nvSpPr>
        <p:spPr>
          <a:xfrm>
            <a:off x="8732520" y="1645920"/>
            <a:ext cx="2788920" cy="4343400"/>
          </a:xfrm>
          <a:prstGeom prst="roundRect">
            <a:avLst>
              <a:gd name="adj" fmla="val 2623"/>
            </a:avLst>
          </a:prstGeom>
          <a:solidFill>
            <a:srgbClr val="F2F5F8"/>
          </a:solidFill>
          <a:ln w="12700">
            <a:solidFill>
              <a:srgbClr val="DDE3E9"/>
            </a:solidFill>
            <a:prstDash val="solid"/>
          </a:ln>
        </p:spPr>
        <p:txBody>
          <a:bodyPr/>
          <a:p/>
        </p:txBody>
      </p:sp>
      <p:sp>
        <p:nvSpPr>
          <p:cNvPr id="7" name="Text 5"/>
          <p:cNvSpPr txBox="1"/>
          <p:nvPr/>
        </p:nvSpPr>
        <p:spPr>
          <a:xfrm>
            <a:off x="8961120" y="1874520"/>
            <a:ext cx="2286000" cy="274320"/>
          </a:xfrm>
          <a:prstGeom prst="rect">
            <a:avLst/>
          </a:prstGeom>
          <a:noFill/>
          <a:ln/>
        </p:spPr>
        <p:txBody>
          <a:bodyPr wrap="square" lIns="0" tIns="0" rIns="0" bIns="0" rtlCol="0" anchor="ctr"/>
          <a:lstStyle/>
          <a:p>
            <a:pPr indent="0" marL="0">
              <a:buNone/>
            </a:pPr>
            <a:r>
              <a:rPr lang="en-US" sz="1150" b="1" dirty="0">
                <a:solidFill>
                  <a:srgbClr val="43525F"/>
                </a:solidFill>
                <a:latin typeface="Calibri" pitchFamily="34" charset="0"/>
                <a:ea typeface="Calibri" pitchFamily="34" charset="-122"/>
                <a:cs typeface="Calibri" pitchFamily="34" charset="-120"/>
              </a:rPr>
              <a:t>WHAT THIS SHOWS</a:t>
            </a:r>
            <a:endParaRPr lang="en-US" sz="1150" dirty="0"/>
          </a:p>
        </p:txBody>
      </p:sp>
      <p:sp>
        <p:nvSpPr>
          <p:cNvPr id="8" name="Text 6"/>
          <p:cNvSpPr txBox="1"/>
          <p:nvPr/>
        </p:nvSpPr>
        <p:spPr>
          <a:xfrm>
            <a:off x="8961120" y="2240280"/>
            <a:ext cx="2286000" cy="3520440"/>
          </a:xfrm>
          <a:prstGeom prst="rect">
            <a:avLst/>
          </a:prstGeom>
          <a:noFill/>
          <a:ln/>
        </p:spPr>
        <p:txBody>
          <a:bodyPr wrap="square" lIns="0" tIns="0" rIns="0" bIns="0" rtlCol="0" anchor="t"/>
          <a:lstStyle/>
          <a:p>
            <a:pPr indent="0" marL="0">
              <a:buNone/>
            </a:pPr>
            <a:r>
              <a:rPr lang="en-US" sz="1300" dirty="0">
                <a:solidFill>
                  <a:srgbClr val="1A1A1A"/>
                </a:solidFill>
                <a:latin typeface="Calibri" pitchFamily="34" charset="0"/>
                <a:ea typeface="Calibri" pitchFamily="34" charset="-122"/>
                <a:cs typeface="Calibri" pitchFamily="34" charset="-120"/>
              </a:rPr>
              <a:t>In Czechia 66% of the bill is the commodity. In Poland it is 46%: nearly half that bill is tax, and no supplier can discount it.
A 10% cut on the commodity is worth 6.6% off a Czech customer's total bill, against 5.3% in Germany.</a:t>
            </a:r>
            <a:endParaRPr lang="en-US" sz="1300" dirty="0"/>
          </a:p>
        </p:txBody>
      </p:sp>
      <p:sp>
        <p:nvSpPr>
          <p:cNvPr id="9" name="Text 7"/>
          <p:cNvSpPr txBox="1"/>
          <p:nvPr/>
        </p:nvSpPr>
        <p:spPr>
          <a:xfrm>
            <a:off x="640080" y="6400800"/>
            <a:ext cx="9144000" cy="274320"/>
          </a:xfrm>
          <a:prstGeom prst="rect">
            <a:avLst/>
          </a:prstGeom>
          <a:noFill/>
          <a:ln/>
        </p:spPr>
        <p:txBody>
          <a:bodyPr wrap="square" lIns="0" tIns="0" rIns="0" bIns="0" rtlCol="0" anchor="ctr"/>
          <a:lstStyle/>
          <a:p>
            <a:pPr indent="0" marL="0">
              <a:buNone/>
            </a:pPr>
            <a:r>
              <a:rPr lang="en-US" sz="1050" dirty="0">
                <a:solidFill>
                  <a:srgbClr val="43525F"/>
                </a:solidFill>
                <a:latin typeface="Calibri" pitchFamily="34" charset="0"/>
                <a:ea typeface="Calibri" pitchFamily="34" charset="-122"/>
                <a:cs typeface="Calibri" pitchFamily="34" charset="-120"/>
              </a:rPr>
              <a:t>Source: Eurostat  |  2025-S2  |  Non-household consumers, excluding VAT</a:t>
            </a:r>
            <a:endParaRPr lang="en-US" sz="1050" dirty="0"/>
          </a:p>
        </p:txBody>
      </p:sp>
      <p:sp>
        <p:nvSpPr>
          <p:cNvPr id="10" name="Text 8"/>
          <p:cNvSpPr txBox="1"/>
          <p:nvPr/>
        </p:nvSpPr>
        <p:spPr>
          <a:xfrm>
            <a:off x="10972800" y="6400800"/>
            <a:ext cx="548640" cy="274320"/>
          </a:xfrm>
          <a:prstGeom prst="rect">
            <a:avLst/>
          </a:prstGeom>
          <a:noFill/>
          <a:ln/>
        </p:spPr>
        <p:txBody>
          <a:bodyPr wrap="square" lIns="0" tIns="0" rIns="0" bIns="0" rtlCol="0" anchor="ctr"/>
          <a:lstStyle/>
          <a:p>
            <a:pPr algn="r" indent="0" marL="0">
              <a:buNone/>
            </a:pPr>
            <a:r>
              <a:rPr lang="en-US" sz="1050" dirty="0">
                <a:solidFill>
                  <a:srgbClr val="43525F"/>
                </a:solidFill>
                <a:latin typeface="Calibri" pitchFamily="34" charset="0"/>
                <a:ea typeface="Calibri" pitchFamily="34" charset="-122"/>
                <a:cs typeface="Calibri" pitchFamily="34" charset="-120"/>
              </a:rPr>
              <a:t>5</a:t>
            </a:r>
            <a:endParaRPr lang="en-US" sz="1050" dirty="0"/>
          </a:p>
        </p:txBody>
      </p:sp>
      <p:pic>
        <p:nvPicPr>
          <p:cNvPr id="11" name="Picture 10" descr="composition.png"/>
          <p:cNvPicPr>
            <a:picLocks noChangeAspect="1"/>
          </p:cNvPicPr>
          <p:nvPr/>
        </p:nvPicPr>
        <p:blipFill>
          <a:blip r:embed="rId3"/>
          <a:stretch>
            <a:fillRect/>
          </a:stretch>
        </p:blipFill>
        <p:spPr>
          <a:xfrm>
            <a:off x="791524" y="1645920"/>
            <a:ext cx="7469511" cy="4343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000" b="1" dirty="0">
                <a:solidFill>
                  <a:srgbClr val="12243A"/>
                </a:solidFill>
                <a:latin typeface="Cambria" pitchFamily="34" charset="0"/>
                <a:ea typeface="Cambria" pitchFamily="34" charset="-122"/>
                <a:cs typeface="Cambria" pitchFamily="34" charset="-120"/>
              </a:rPr>
              <a:t>Big customers get less of a discount here</a:t>
            </a:r>
            <a:endParaRPr lang="en-US" sz="3000" dirty="0"/>
          </a:p>
        </p:txBody>
      </p:sp>
      <p:sp>
        <p:nvSpPr>
          <p:cNvPr id="3" name="Text 1"/>
          <p:cNvSpPr txBox="1"/>
          <p:nvPr/>
        </p:nvSpPr>
        <p:spPr>
          <a:xfrm>
            <a:off x="640080" y="1133856"/>
            <a:ext cx="10881360" cy="365760"/>
          </a:xfrm>
          <a:prstGeom prst="rect">
            <a:avLst/>
          </a:prstGeom>
          <a:noFill/>
          <a:ln/>
        </p:spPr>
        <p:txBody>
          <a:bodyPr wrap="square" lIns="0" tIns="0" rIns="0" bIns="0" rtlCol="0" anchor="ctr"/>
          <a:lstStyle/>
          <a:p>
            <a:pPr indent="0" marL="0">
              <a:buNone/>
            </a:pPr>
            <a:r>
              <a:rPr lang="en-US" sz="1400" dirty="0">
                <a:solidFill>
                  <a:srgbClr val="43525F"/>
                </a:solidFill>
                <a:latin typeface="Calibri" pitchFamily="34" charset="0"/>
                <a:ea typeface="Calibri" pitchFamily="34" charset="-122"/>
                <a:cs typeface="Calibri" pitchFamily="34" charset="-120"/>
              </a:rPr>
              <a:t>Price by annual consumption band, 2025-S2. Measured between &lt; 20 MWh and 70 000-149 999 MWh, the largest band every country reports.</a:t>
            </a:r>
            <a:endParaRPr lang="en-US" sz="1400" dirty="0"/>
          </a:p>
        </p:txBody>
      </p:sp>
      <p:sp>
        <p:nvSpPr>
          <p:cNvPr id="6" name="Shape 4"/>
          <p:cNvSpPr/>
          <p:nvPr/>
        </p:nvSpPr>
        <p:spPr>
          <a:xfrm>
            <a:off x="8732520" y="1645920"/>
            <a:ext cx="2788920" cy="4343400"/>
          </a:xfrm>
          <a:prstGeom prst="roundRect">
            <a:avLst>
              <a:gd name="adj" fmla="val 2623"/>
            </a:avLst>
          </a:prstGeom>
          <a:solidFill>
            <a:srgbClr val="F2F5F8"/>
          </a:solidFill>
          <a:ln w="12700">
            <a:solidFill>
              <a:srgbClr val="DDE3E9"/>
            </a:solidFill>
            <a:prstDash val="solid"/>
          </a:ln>
        </p:spPr>
        <p:txBody>
          <a:bodyPr/>
          <a:p/>
        </p:txBody>
      </p:sp>
      <p:sp>
        <p:nvSpPr>
          <p:cNvPr id="7" name="Text 5"/>
          <p:cNvSpPr txBox="1"/>
          <p:nvPr/>
        </p:nvSpPr>
        <p:spPr>
          <a:xfrm>
            <a:off x="8961120" y="1874520"/>
            <a:ext cx="2286000" cy="274320"/>
          </a:xfrm>
          <a:prstGeom prst="rect">
            <a:avLst/>
          </a:prstGeom>
          <a:noFill/>
          <a:ln/>
        </p:spPr>
        <p:txBody>
          <a:bodyPr wrap="square" lIns="0" tIns="0" rIns="0" bIns="0" rtlCol="0" anchor="ctr"/>
          <a:lstStyle/>
          <a:p>
            <a:pPr indent="0" marL="0">
              <a:buNone/>
            </a:pPr>
            <a:r>
              <a:rPr lang="en-US" sz="1150" b="1" dirty="0">
                <a:solidFill>
                  <a:srgbClr val="43525F"/>
                </a:solidFill>
                <a:latin typeface="Calibri" pitchFamily="34" charset="0"/>
                <a:ea typeface="Calibri" pitchFamily="34" charset="-122"/>
                <a:cs typeface="Calibri" pitchFamily="34" charset="-120"/>
              </a:rPr>
              <a:t>WHAT THIS SHOWS</a:t>
            </a:r>
            <a:endParaRPr lang="en-US" sz="1150" dirty="0"/>
          </a:p>
        </p:txBody>
      </p:sp>
      <p:sp>
        <p:nvSpPr>
          <p:cNvPr id="8" name="Text 6"/>
          <p:cNvSpPr txBox="1"/>
          <p:nvPr/>
        </p:nvSpPr>
        <p:spPr>
          <a:xfrm>
            <a:off x="8961120" y="2240280"/>
            <a:ext cx="2286000" cy="3520440"/>
          </a:xfrm>
          <a:prstGeom prst="rect">
            <a:avLst/>
          </a:prstGeom>
          <a:noFill/>
          <a:ln/>
        </p:spPr>
        <p:txBody>
          <a:bodyPr wrap="square" lIns="0" tIns="0" rIns="0" bIns="0" rtlCol="0" anchor="t"/>
          <a:lstStyle/>
          <a:p>
            <a:pPr indent="0" marL="0">
              <a:buNone/>
            </a:pPr>
            <a:r>
              <a:rPr lang="en-US" sz="1300" dirty="0">
                <a:solidFill>
                  <a:srgbClr val="1A1A1A"/>
                </a:solidFill>
                <a:latin typeface="Calibri" pitchFamily="34" charset="0"/>
                <a:ea typeface="Calibri" pitchFamily="34" charset="-122"/>
                <a:cs typeface="Calibri" pitchFamily="34" charset="-120"/>
              </a:rPr>
              <a:t>Across the EU the large band pays 59% less per kWh than the smallest. In Czechia the gap is 34%.
The Czech curve also turns back up: consumers above 20 000 MWh pay more per kWh than the 2 000-19 999 MWh band, the only market here where that happens at that point on the curve.
Czechia does not report the &gt;= 150 000 MWh band at all, so its very largest consumers are invisible in this data.</a:t>
            </a:r>
            <a:endParaRPr lang="en-US" sz="1300" dirty="0"/>
          </a:p>
        </p:txBody>
      </p:sp>
      <p:sp>
        <p:nvSpPr>
          <p:cNvPr id="9" name="Text 7"/>
          <p:cNvSpPr txBox="1"/>
          <p:nvPr/>
        </p:nvSpPr>
        <p:spPr>
          <a:xfrm>
            <a:off x="640080" y="6400800"/>
            <a:ext cx="9144000" cy="274320"/>
          </a:xfrm>
          <a:prstGeom prst="rect">
            <a:avLst/>
          </a:prstGeom>
          <a:noFill/>
          <a:ln/>
        </p:spPr>
        <p:txBody>
          <a:bodyPr wrap="square" lIns="0" tIns="0" rIns="0" bIns="0" rtlCol="0" anchor="ctr"/>
          <a:lstStyle/>
          <a:p>
            <a:pPr indent="0" marL="0">
              <a:buNone/>
            </a:pPr>
            <a:r>
              <a:rPr lang="en-US" sz="1050" dirty="0">
                <a:solidFill>
                  <a:srgbClr val="43525F"/>
                </a:solidFill>
                <a:latin typeface="Calibri" pitchFamily="34" charset="0"/>
                <a:ea typeface="Calibri" pitchFamily="34" charset="-122"/>
                <a:cs typeface="Calibri" pitchFamily="34" charset="-120"/>
              </a:rPr>
              <a:t>Source: Eurostat  |  2025-S2  |  Non-household consumers, excluding VAT</a:t>
            </a:r>
            <a:endParaRPr lang="en-US" sz="1050" dirty="0"/>
          </a:p>
        </p:txBody>
      </p:sp>
      <p:sp>
        <p:nvSpPr>
          <p:cNvPr id="10" name="Text 8"/>
          <p:cNvSpPr txBox="1"/>
          <p:nvPr/>
        </p:nvSpPr>
        <p:spPr>
          <a:xfrm>
            <a:off x="10972800" y="6400800"/>
            <a:ext cx="548640" cy="274320"/>
          </a:xfrm>
          <a:prstGeom prst="rect">
            <a:avLst/>
          </a:prstGeom>
          <a:noFill/>
          <a:ln/>
        </p:spPr>
        <p:txBody>
          <a:bodyPr wrap="square" lIns="0" tIns="0" rIns="0" bIns="0" rtlCol="0" anchor="ctr"/>
          <a:lstStyle/>
          <a:p>
            <a:pPr algn="r" indent="0" marL="0">
              <a:buNone/>
            </a:pPr>
            <a:r>
              <a:rPr lang="en-US" sz="1050" dirty="0">
                <a:solidFill>
                  <a:srgbClr val="43525F"/>
                </a:solidFill>
                <a:latin typeface="Calibri" pitchFamily="34" charset="0"/>
                <a:ea typeface="Calibri" pitchFamily="34" charset="-122"/>
                <a:cs typeface="Calibri" pitchFamily="34" charset="-120"/>
              </a:rPr>
              <a:t>6</a:t>
            </a:r>
            <a:endParaRPr lang="en-US" sz="1050" dirty="0"/>
          </a:p>
        </p:txBody>
      </p:sp>
      <p:pic>
        <p:nvPicPr>
          <p:cNvPr id="11" name="Picture 10" descr="bands.png"/>
          <p:cNvPicPr>
            <a:picLocks noChangeAspect="1"/>
          </p:cNvPicPr>
          <p:nvPr/>
        </p:nvPicPr>
        <p:blipFill>
          <a:blip r:embed="rId3"/>
          <a:stretch>
            <a:fillRect/>
          </a:stretch>
        </p:blipFill>
        <p:spPr>
          <a:xfrm>
            <a:off x="1055684" y="1645920"/>
            <a:ext cx="6941192" cy="4343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000" b="1" dirty="0">
                <a:solidFill>
                  <a:srgbClr val="12243A"/>
                </a:solidFill>
                <a:latin typeface="Cambria" pitchFamily="34" charset="0"/>
                <a:ea typeface="Cambria" pitchFamily="34" charset="-122"/>
                <a:cs typeface="Cambria" pitchFamily="34" charset="-120"/>
              </a:rPr>
              <a:t>What this changes for how we price</a:t>
            </a:r>
            <a:endParaRPr lang="en-US" sz="3000" dirty="0"/>
          </a:p>
        </p:txBody>
      </p:sp>
      <p:sp>
        <p:nvSpPr>
          <p:cNvPr id="3" name="Text 1"/>
          <p:cNvSpPr txBox="1"/>
          <p:nvPr/>
        </p:nvSpPr>
        <p:spPr>
          <a:xfrm>
            <a:off x="640080" y="1133856"/>
            <a:ext cx="10881360" cy="365760"/>
          </a:xfrm>
          <a:prstGeom prst="rect">
            <a:avLst/>
          </a:prstGeom>
          <a:noFill/>
          <a:ln/>
        </p:spPr>
        <p:txBody>
          <a:bodyPr wrap="square" lIns="0" tIns="0" rIns="0" bIns="0" rtlCol="0" anchor="ctr"/>
          <a:lstStyle/>
          <a:p>
            <a:pPr indent="0" marL="0">
              <a:buNone/>
            </a:pPr>
            <a:r>
              <a:rPr lang="en-US" sz="1400" dirty="0">
                <a:solidFill>
                  <a:srgbClr val="43525F"/>
                </a:solidFill>
                <a:latin typeface="Calibri" pitchFamily="34" charset="0"/>
                <a:ea typeface="Calibri" pitchFamily="34" charset="-122"/>
                <a:cs typeface="Calibri" pitchFamily="34" charset="-120"/>
              </a:rPr>
              <a:t>Three things follow for anyone selling electricity to Czech industry.</a:t>
            </a:r>
            <a:endParaRPr lang="en-US" sz="1400" dirty="0"/>
          </a:p>
        </p:txBody>
      </p:sp>
      <p:sp>
        <p:nvSpPr>
          <p:cNvPr id="4" name="Shape 2"/>
          <p:cNvSpPr/>
          <p:nvPr/>
        </p:nvSpPr>
        <p:spPr>
          <a:xfrm>
            <a:off x="640080" y="1691640"/>
            <a:ext cx="3566160" cy="4114800"/>
          </a:xfrm>
          <a:prstGeom prst="roundRect">
            <a:avLst>
              <a:gd name="adj" fmla="val 2051"/>
            </a:avLst>
          </a:prstGeom>
          <a:solidFill>
            <a:srgbClr val="F2F5F8"/>
          </a:solidFill>
          <a:ln w="12700">
            <a:solidFill>
              <a:srgbClr val="DDE3E9"/>
            </a:solidFill>
            <a:prstDash val="solid"/>
          </a:ln>
        </p:spPr>
        <p:txBody>
          <a:bodyPr/>
          <a:p/>
        </p:txBody>
      </p:sp>
      <p:sp>
        <p:nvSpPr>
          <p:cNvPr id="5" name="Text 3"/>
          <p:cNvSpPr txBox="1"/>
          <p:nvPr/>
        </p:nvSpPr>
        <p:spPr>
          <a:xfrm>
            <a:off x="896112" y="1874520"/>
            <a:ext cx="3054096" cy="457200"/>
          </a:xfrm>
          <a:prstGeom prst="rect">
            <a:avLst/>
          </a:prstGeom>
          <a:noFill/>
          <a:ln/>
        </p:spPr>
        <p:txBody>
          <a:bodyPr wrap="square" lIns="0" tIns="0" rIns="0" bIns="0" rtlCol="0" anchor="ctr"/>
          <a:lstStyle/>
          <a:p>
            <a:pPr indent="0" marL="0">
              <a:buNone/>
            </a:pPr>
            <a:r>
              <a:rPr lang="en-US" sz="2200" b="1" dirty="0">
                <a:solidFill>
                  <a:srgbClr val="2A78D6"/>
                </a:solidFill>
                <a:latin typeface="Cambria" pitchFamily="34" charset="0"/>
                <a:ea typeface="Cambria" pitchFamily="34" charset="-122"/>
                <a:cs typeface="Cambria" pitchFamily="34" charset="-120"/>
              </a:rPr>
              <a:t>01</a:t>
            </a:r>
            <a:endParaRPr lang="en-US" sz="2200" dirty="0"/>
          </a:p>
        </p:txBody>
      </p:sp>
      <p:sp>
        <p:nvSpPr>
          <p:cNvPr id="6" name="Text 4"/>
          <p:cNvSpPr txBox="1"/>
          <p:nvPr/>
        </p:nvSpPr>
        <p:spPr>
          <a:xfrm>
            <a:off x="896112" y="2331720"/>
            <a:ext cx="3054096" cy="685800"/>
          </a:xfrm>
          <a:prstGeom prst="rect">
            <a:avLst/>
          </a:prstGeom>
          <a:noFill/>
          <a:ln/>
        </p:spPr>
        <p:txBody>
          <a:bodyPr wrap="square" lIns="0" tIns="0" rIns="0" bIns="0" rtlCol="0" anchor="ctr"/>
          <a:lstStyle/>
          <a:p>
            <a:pPr indent="0" marL="0">
              <a:buNone/>
            </a:pPr>
            <a:r>
              <a:rPr lang="en-US" sz="1500" b="1" dirty="0">
                <a:solidFill>
                  <a:srgbClr val="12243A"/>
                </a:solidFill>
                <a:latin typeface="Calibri" pitchFamily="34" charset="0"/>
                <a:ea typeface="Calibri" pitchFamily="34" charset="-122"/>
                <a:cs typeface="Calibri" pitchFamily="34" charset="-120"/>
              </a:rPr>
              <a:t>Price competition works better here than next door</a:t>
            </a:r>
            <a:endParaRPr lang="en-US" sz="1500" dirty="0"/>
          </a:p>
        </p:txBody>
      </p:sp>
      <p:sp>
        <p:nvSpPr>
          <p:cNvPr id="7" name="Text 5"/>
          <p:cNvSpPr txBox="1"/>
          <p:nvPr/>
        </p:nvSpPr>
        <p:spPr>
          <a:xfrm>
            <a:off x="896112" y="3063240"/>
            <a:ext cx="3054096" cy="2514600"/>
          </a:xfrm>
          <a:prstGeom prst="rect">
            <a:avLst/>
          </a:prstGeom>
          <a:noFill/>
          <a:ln/>
        </p:spPr>
        <p:txBody>
          <a:bodyPr wrap="square" lIns="0" tIns="0" rIns="0" bIns="0" rtlCol="0" anchor="t"/>
          <a:lstStyle/>
          <a:p>
            <a:pPr indent="0" marL="0">
              <a:buNone/>
            </a:pPr>
            <a:r>
              <a:rPr lang="en-US" sz="1300" dirty="0">
                <a:solidFill>
                  <a:srgbClr val="1A1A1A"/>
                </a:solidFill>
                <a:latin typeface="Calibri" pitchFamily="34" charset="0"/>
                <a:ea typeface="Calibri" pitchFamily="34" charset="-122"/>
                <a:cs typeface="Calibri" pitchFamily="34" charset="-120"/>
              </a:rPr>
              <a:t>With 66% of the bill in the supplier's hands, a discount reaches the customer's total cost more directly than in Poland (46%) or Germany. The same headline discount buys more visible saving — and costs the same margin.</a:t>
            </a:r>
            <a:endParaRPr lang="en-US" sz="1300" dirty="0"/>
          </a:p>
        </p:txBody>
      </p:sp>
      <p:sp>
        <p:nvSpPr>
          <p:cNvPr id="8" name="Shape 6"/>
          <p:cNvSpPr/>
          <p:nvPr/>
        </p:nvSpPr>
        <p:spPr>
          <a:xfrm>
            <a:off x="4480560" y="1691640"/>
            <a:ext cx="3566160" cy="4114800"/>
          </a:xfrm>
          <a:prstGeom prst="roundRect">
            <a:avLst>
              <a:gd name="adj" fmla="val 2051"/>
            </a:avLst>
          </a:prstGeom>
          <a:solidFill>
            <a:srgbClr val="F2F5F8"/>
          </a:solidFill>
          <a:ln w="12700">
            <a:solidFill>
              <a:srgbClr val="DDE3E9"/>
            </a:solidFill>
            <a:prstDash val="solid"/>
          </a:ln>
        </p:spPr>
        <p:txBody>
          <a:bodyPr/>
          <a:p/>
        </p:txBody>
      </p:sp>
      <p:sp>
        <p:nvSpPr>
          <p:cNvPr id="9" name="Text 7"/>
          <p:cNvSpPr txBox="1"/>
          <p:nvPr/>
        </p:nvSpPr>
        <p:spPr>
          <a:xfrm>
            <a:off x="4736592" y="1874520"/>
            <a:ext cx="3054096" cy="457200"/>
          </a:xfrm>
          <a:prstGeom prst="rect">
            <a:avLst/>
          </a:prstGeom>
          <a:noFill/>
          <a:ln/>
        </p:spPr>
        <p:txBody>
          <a:bodyPr wrap="square" lIns="0" tIns="0" rIns="0" bIns="0" rtlCol="0" anchor="ctr"/>
          <a:lstStyle/>
          <a:p>
            <a:pPr indent="0" marL="0">
              <a:buNone/>
            </a:pPr>
            <a:r>
              <a:rPr lang="en-US" sz="2200" b="1" dirty="0">
                <a:solidFill>
                  <a:srgbClr val="2A78D6"/>
                </a:solidFill>
                <a:latin typeface="Cambria" pitchFamily="34" charset="0"/>
                <a:ea typeface="Cambria" pitchFamily="34" charset="-122"/>
                <a:cs typeface="Cambria" pitchFamily="34" charset="-120"/>
              </a:rPr>
              <a:t>02</a:t>
            </a:r>
            <a:endParaRPr lang="en-US" sz="2200" dirty="0"/>
          </a:p>
        </p:txBody>
      </p:sp>
      <p:sp>
        <p:nvSpPr>
          <p:cNvPr id="10" name="Text 8"/>
          <p:cNvSpPr txBox="1"/>
          <p:nvPr/>
        </p:nvSpPr>
        <p:spPr>
          <a:xfrm>
            <a:off x="4736592" y="2331720"/>
            <a:ext cx="3054096" cy="685800"/>
          </a:xfrm>
          <a:prstGeom prst="rect">
            <a:avLst/>
          </a:prstGeom>
          <a:noFill/>
          <a:ln/>
        </p:spPr>
        <p:txBody>
          <a:bodyPr wrap="square" lIns="0" tIns="0" rIns="0" bIns="0" rtlCol="0" anchor="ctr"/>
          <a:lstStyle/>
          <a:p>
            <a:pPr indent="0" marL="0">
              <a:buNone/>
            </a:pPr>
            <a:r>
              <a:rPr lang="en-US" sz="1500" b="1" dirty="0">
                <a:solidFill>
                  <a:srgbClr val="12243A"/>
                </a:solidFill>
                <a:latin typeface="Calibri" pitchFamily="34" charset="0"/>
                <a:ea typeface="Calibri" pitchFamily="34" charset="-122"/>
                <a:cs typeface="Calibri" pitchFamily="34" charset="-120"/>
              </a:rPr>
              <a:t>The largest consumers are the exposed segment</a:t>
            </a:r>
            <a:endParaRPr lang="en-US" sz="1500" dirty="0"/>
          </a:p>
        </p:txBody>
      </p:sp>
      <p:sp>
        <p:nvSpPr>
          <p:cNvPr id="11" name="Text 9"/>
          <p:cNvSpPr txBox="1"/>
          <p:nvPr/>
        </p:nvSpPr>
        <p:spPr>
          <a:xfrm>
            <a:off x="4736592" y="3063240"/>
            <a:ext cx="3054096" cy="2514600"/>
          </a:xfrm>
          <a:prstGeom prst="rect">
            <a:avLst/>
          </a:prstGeom>
          <a:noFill/>
          <a:ln/>
        </p:spPr>
        <p:txBody>
          <a:bodyPr wrap="square" lIns="0" tIns="0" rIns="0" bIns="0" rtlCol="0" anchor="t"/>
          <a:lstStyle/>
          <a:p>
            <a:pPr indent="0" marL="0">
              <a:buNone/>
            </a:pPr>
            <a:r>
              <a:rPr lang="en-US" sz="1300" dirty="0">
                <a:solidFill>
                  <a:srgbClr val="1A1A1A"/>
                </a:solidFill>
                <a:latin typeface="Calibri" pitchFamily="34" charset="0"/>
                <a:ea typeface="Calibri" pitchFamily="34" charset="-122"/>
                <a:cs typeface="Calibri" pitchFamily="34" charset="-120"/>
              </a:rPr>
              <a:t>The Czech size curve is flat — 34% between the smallest and largest comparable band against 59% EU-wide — and above 20 000 MWh it turns back up. Large industrial accounts get less volume benefit than their EU peers, and they are the group most able to tender across borders.</a:t>
            </a:r>
            <a:endParaRPr lang="en-US" sz="1300" dirty="0"/>
          </a:p>
        </p:txBody>
      </p:sp>
      <p:sp>
        <p:nvSpPr>
          <p:cNvPr id="12" name="Shape 10"/>
          <p:cNvSpPr/>
          <p:nvPr/>
        </p:nvSpPr>
        <p:spPr>
          <a:xfrm>
            <a:off x="8321040" y="1691640"/>
            <a:ext cx="3566160" cy="4114800"/>
          </a:xfrm>
          <a:prstGeom prst="roundRect">
            <a:avLst>
              <a:gd name="adj" fmla="val 2051"/>
            </a:avLst>
          </a:prstGeom>
          <a:solidFill>
            <a:srgbClr val="F2F5F8"/>
          </a:solidFill>
          <a:ln w="12700">
            <a:solidFill>
              <a:srgbClr val="DDE3E9"/>
            </a:solidFill>
            <a:prstDash val="solid"/>
          </a:ln>
        </p:spPr>
        <p:txBody>
          <a:bodyPr/>
          <a:p/>
        </p:txBody>
      </p:sp>
      <p:sp>
        <p:nvSpPr>
          <p:cNvPr id="13" name="Text 11"/>
          <p:cNvSpPr txBox="1"/>
          <p:nvPr/>
        </p:nvSpPr>
        <p:spPr>
          <a:xfrm>
            <a:off x="8577072" y="1874520"/>
            <a:ext cx="3054096" cy="457200"/>
          </a:xfrm>
          <a:prstGeom prst="rect">
            <a:avLst/>
          </a:prstGeom>
          <a:noFill/>
          <a:ln/>
        </p:spPr>
        <p:txBody>
          <a:bodyPr wrap="square" lIns="0" tIns="0" rIns="0" bIns="0" rtlCol="0" anchor="ctr"/>
          <a:lstStyle/>
          <a:p>
            <a:pPr indent="0" marL="0">
              <a:buNone/>
            </a:pPr>
            <a:r>
              <a:rPr lang="en-US" sz="2200" b="1" dirty="0">
                <a:solidFill>
                  <a:srgbClr val="2A78D6"/>
                </a:solidFill>
                <a:latin typeface="Cambria" pitchFamily="34" charset="0"/>
                <a:ea typeface="Cambria" pitchFamily="34" charset="-122"/>
                <a:cs typeface="Cambria" pitchFamily="34" charset="-120"/>
              </a:rPr>
              <a:t>03</a:t>
            </a:r>
            <a:endParaRPr lang="en-US" sz="2200" dirty="0"/>
          </a:p>
        </p:txBody>
      </p:sp>
      <p:sp>
        <p:nvSpPr>
          <p:cNvPr id="14" name="Text 12"/>
          <p:cNvSpPr txBox="1"/>
          <p:nvPr/>
        </p:nvSpPr>
        <p:spPr>
          <a:xfrm>
            <a:off x="8577072" y="2331720"/>
            <a:ext cx="3054096" cy="685800"/>
          </a:xfrm>
          <a:prstGeom prst="rect">
            <a:avLst/>
          </a:prstGeom>
          <a:noFill/>
          <a:ln/>
        </p:spPr>
        <p:txBody>
          <a:bodyPr wrap="square" lIns="0" tIns="0" rIns="0" bIns="0" rtlCol="0" anchor="ctr"/>
          <a:lstStyle/>
          <a:p>
            <a:pPr indent="0" marL="0">
              <a:buNone/>
            </a:pPr>
            <a:r>
              <a:rPr lang="en-US" sz="1500" b="1" dirty="0">
                <a:solidFill>
                  <a:srgbClr val="12243A"/>
                </a:solidFill>
                <a:latin typeface="Calibri" pitchFamily="34" charset="0"/>
                <a:ea typeface="Calibri" pitchFamily="34" charset="-122"/>
                <a:cs typeface="Calibri" pitchFamily="34" charset="-120"/>
              </a:rPr>
              <a:t>A German parent needs a different argument from everyone else</a:t>
            </a:r>
            <a:endParaRPr lang="en-US" sz="1500" dirty="0"/>
          </a:p>
        </p:txBody>
      </p:sp>
      <p:sp>
        <p:nvSpPr>
          <p:cNvPr id="15" name="Text 13"/>
          <p:cNvSpPr txBox="1"/>
          <p:nvPr/>
        </p:nvSpPr>
        <p:spPr>
          <a:xfrm>
            <a:off x="8577072" y="3063240"/>
            <a:ext cx="3054096" cy="2514600"/>
          </a:xfrm>
          <a:prstGeom prst="rect">
            <a:avLst/>
          </a:prstGeom>
          <a:noFill/>
          <a:ln/>
        </p:spPr>
        <p:txBody>
          <a:bodyPr wrap="square" lIns="0" tIns="0" rIns="0" bIns="0" rtlCol="0" anchor="t"/>
          <a:lstStyle/>
          <a:p>
            <a:pPr indent="0" marL="0">
              <a:buNone/>
            </a:pPr>
            <a:r>
              <a:rPr lang="en-US" sz="1300" dirty="0">
                <a:solidFill>
                  <a:srgbClr val="1A1A1A"/>
                </a:solidFill>
                <a:latin typeface="Calibri" pitchFamily="34" charset="0"/>
                <a:ea typeface="Calibri" pitchFamily="34" charset="-122"/>
                <a:cs typeface="Calibri" pitchFamily="34" charset="-120"/>
              </a:rPr>
              <a:t>Czechia is 15% below Germany but +2.5% against the EU average. The credible argument to a German-owned plant is the cross-border gap; the credible argument elsewhere is that Czech prices moved less through the crisis.</a:t>
            </a:r>
            <a:endParaRPr lang="en-US" sz="1300" dirty="0"/>
          </a:p>
        </p:txBody>
      </p:sp>
      <p:sp>
        <p:nvSpPr>
          <p:cNvPr id="16" name="Text 14"/>
          <p:cNvSpPr txBox="1"/>
          <p:nvPr/>
        </p:nvSpPr>
        <p:spPr>
          <a:xfrm>
            <a:off x="640080" y="6400800"/>
            <a:ext cx="9144000" cy="274320"/>
          </a:xfrm>
          <a:prstGeom prst="rect">
            <a:avLst/>
          </a:prstGeom>
          <a:noFill/>
          <a:ln/>
        </p:spPr>
        <p:txBody>
          <a:bodyPr wrap="square" lIns="0" tIns="0" rIns="0" bIns="0" rtlCol="0" anchor="ctr"/>
          <a:lstStyle/>
          <a:p>
            <a:pPr indent="0" marL="0">
              <a:buNone/>
            </a:pPr>
            <a:r>
              <a:rPr lang="en-US" sz="1050" dirty="0">
                <a:solidFill>
                  <a:srgbClr val="43525F"/>
                </a:solidFill>
                <a:latin typeface="Calibri" pitchFamily="34" charset="0"/>
                <a:ea typeface="Calibri" pitchFamily="34" charset="-122"/>
                <a:cs typeface="Calibri" pitchFamily="34" charset="-120"/>
              </a:rPr>
              <a:t>Source: Eurostat  |  2025-S2  |  Non-household consumers, excluding VAT</a:t>
            </a:r>
            <a:endParaRPr lang="en-US" sz="1050" dirty="0"/>
          </a:p>
        </p:txBody>
      </p:sp>
      <p:sp>
        <p:nvSpPr>
          <p:cNvPr id="17" name="Text 15"/>
          <p:cNvSpPr txBox="1"/>
          <p:nvPr/>
        </p:nvSpPr>
        <p:spPr>
          <a:xfrm>
            <a:off x="10972800" y="6400800"/>
            <a:ext cx="548640" cy="274320"/>
          </a:xfrm>
          <a:prstGeom prst="rect">
            <a:avLst/>
          </a:prstGeom>
          <a:noFill/>
          <a:ln/>
        </p:spPr>
        <p:txBody>
          <a:bodyPr wrap="square" lIns="0" tIns="0" rIns="0" bIns="0" rtlCol="0" anchor="ctr"/>
          <a:lstStyle/>
          <a:p>
            <a:pPr algn="r" indent="0" marL="0">
              <a:buNone/>
            </a:pPr>
            <a:r>
              <a:rPr lang="en-US" sz="1050" dirty="0">
                <a:solidFill>
                  <a:srgbClr val="43525F"/>
                </a:solidFill>
                <a:latin typeface="Calibri" pitchFamily="34" charset="0"/>
                <a:ea typeface="Calibri" pitchFamily="34" charset="-122"/>
                <a:cs typeface="Calibri" pitchFamily="34" charset="-120"/>
              </a:rPr>
              <a:t>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000" b="1" dirty="0">
                <a:solidFill>
                  <a:srgbClr val="12243A"/>
                </a:solidFill>
                <a:latin typeface="Cambria" pitchFamily="34" charset="0"/>
                <a:ea typeface="Cambria" pitchFamily="34" charset="-122"/>
                <a:cs typeface="Cambria" pitchFamily="34" charset="-120"/>
              </a:rPr>
              <a:t>How the numbers were made, and where they stop</a:t>
            </a:r>
            <a:endParaRPr lang="en-US" sz="3000" dirty="0"/>
          </a:p>
        </p:txBody>
      </p:sp>
      <p:sp>
        <p:nvSpPr>
          <p:cNvPr id="3" name="Text 1"/>
          <p:cNvSpPr txBox="1"/>
          <p:nvPr/>
        </p:nvSpPr>
        <p:spPr>
          <a:xfrm>
            <a:off x="640080" y="1133856"/>
            <a:ext cx="10881360" cy="365760"/>
          </a:xfrm>
          <a:prstGeom prst="rect">
            <a:avLst/>
          </a:prstGeom>
          <a:noFill/>
          <a:ln/>
        </p:spPr>
        <p:txBody>
          <a:bodyPr wrap="square" lIns="0" tIns="0" rIns="0" bIns="0" rtlCol="0" anchor="ctr"/>
          <a:lstStyle/>
          <a:p>
            <a:pPr indent="0" marL="0">
              <a:buNone/>
            </a:pPr>
            <a:r>
              <a:rPr lang="en-US" sz="1400" dirty="0">
                <a:solidFill>
                  <a:srgbClr val="43525F"/>
                </a:solidFill>
                <a:latin typeface="Calibri" pitchFamily="34" charset="0"/>
                <a:ea typeface="Calibri" pitchFamily="34" charset="-122"/>
                <a:cs typeface="Calibri" pitchFamily="34" charset="-120"/>
              </a:rPr>
              <a:t>Every figure here is computed from the cached Eurostat responses in this repository and can be reproduced with one command.</a:t>
            </a:r>
            <a:endParaRPr lang="en-US" sz="1400" dirty="0"/>
          </a:p>
        </p:txBody>
      </p:sp>
      <p:sp>
        <p:nvSpPr>
          <p:cNvPr id="4" name="Shape 2"/>
          <p:cNvSpPr/>
          <p:nvPr/>
        </p:nvSpPr>
        <p:spPr>
          <a:xfrm>
            <a:off x="640080" y="1691640"/>
            <a:ext cx="3566160" cy="1325880"/>
          </a:xfrm>
          <a:prstGeom prst="roundRect">
            <a:avLst>
              <a:gd name="adj" fmla="val 5517"/>
            </a:avLst>
          </a:prstGeom>
          <a:solidFill>
            <a:srgbClr val="F2F5F8"/>
          </a:solidFill>
          <a:ln w="12700">
            <a:solidFill>
              <a:srgbClr val="DDE3E9"/>
            </a:solidFill>
            <a:prstDash val="solid"/>
          </a:ln>
        </p:spPr>
        <p:txBody>
          <a:bodyPr/>
          <a:p/>
        </p:txBody>
      </p:sp>
      <p:sp>
        <p:nvSpPr>
          <p:cNvPr id="5" name="Text 3"/>
          <p:cNvSpPr txBox="1"/>
          <p:nvPr/>
        </p:nvSpPr>
        <p:spPr>
          <a:xfrm>
            <a:off x="868680" y="1828800"/>
            <a:ext cx="3108960" cy="274320"/>
          </a:xfrm>
          <a:prstGeom prst="rect">
            <a:avLst/>
          </a:prstGeom>
          <a:noFill/>
          <a:ln/>
        </p:spPr>
        <p:txBody>
          <a:bodyPr wrap="square" lIns="0" tIns="0" rIns="0" bIns="0" rtlCol="0" anchor="ctr"/>
          <a:lstStyle/>
          <a:p>
            <a:pPr indent="0" marL="0">
              <a:buNone/>
            </a:pPr>
            <a:r>
              <a:rPr lang="en-US" sz="1150" dirty="0">
                <a:solidFill>
                  <a:srgbClr val="43525F"/>
                </a:solidFill>
                <a:latin typeface="Calibri" pitchFamily="34" charset="0"/>
                <a:ea typeface="Calibri" pitchFamily="34" charset="-122"/>
                <a:cs typeface="Calibri" pitchFamily="34" charset="-120"/>
              </a:rPr>
              <a:t>OBSERVATIONS USED</a:t>
            </a:r>
            <a:endParaRPr lang="en-US" sz="1150" dirty="0"/>
          </a:p>
        </p:txBody>
      </p:sp>
      <p:sp>
        <p:nvSpPr>
          <p:cNvPr id="6" name="Text 4"/>
          <p:cNvSpPr txBox="1"/>
          <p:nvPr/>
        </p:nvSpPr>
        <p:spPr>
          <a:xfrm>
            <a:off x="868680" y="2121408"/>
            <a:ext cx="3108960" cy="502920"/>
          </a:xfrm>
          <a:prstGeom prst="rect">
            <a:avLst/>
          </a:prstGeom>
          <a:noFill/>
          <a:ln/>
        </p:spPr>
        <p:txBody>
          <a:bodyPr wrap="square" lIns="0" tIns="0" rIns="0" bIns="0" rtlCol="0" anchor="ctr"/>
          <a:lstStyle/>
          <a:p>
            <a:pPr indent="0" marL="0">
              <a:buNone/>
            </a:pPr>
            <a:r>
              <a:rPr lang="en-US" sz="2400" b="1" dirty="0">
                <a:solidFill>
                  <a:srgbClr val="2A78D6"/>
                </a:solidFill>
                <a:latin typeface="Cambria" pitchFamily="34" charset="0"/>
                <a:ea typeface="Cambria" pitchFamily="34" charset="-122"/>
                <a:cs typeface="Cambria" pitchFamily="34" charset="-120"/>
              </a:rPr>
              <a:t>2,775</a:t>
            </a:r>
            <a:endParaRPr lang="en-US" sz="2400" dirty="0"/>
          </a:p>
        </p:txBody>
      </p:sp>
      <p:sp>
        <p:nvSpPr>
          <p:cNvPr id="7" name="Text 5"/>
          <p:cNvSpPr txBox="1"/>
          <p:nvPr/>
        </p:nvSpPr>
        <p:spPr>
          <a:xfrm>
            <a:off x="868680" y="2615184"/>
            <a:ext cx="3108960" cy="320040"/>
          </a:xfrm>
          <a:prstGeom prst="rect">
            <a:avLst/>
          </a:prstGeom>
          <a:noFill/>
          <a:ln/>
        </p:spPr>
        <p:txBody>
          <a:bodyPr wrap="square" lIns="0" tIns="0" rIns="0" bIns="0" rtlCol="0" anchor="ctr"/>
          <a:lstStyle/>
          <a:p>
            <a:pPr indent="0" marL="0">
              <a:buNone/>
            </a:pPr>
            <a:r>
              <a:rPr lang="en-US" sz="1100" dirty="0">
                <a:solidFill>
                  <a:srgbClr val="43525F"/>
                </a:solidFill>
                <a:latin typeface="Calibri" pitchFamily="34" charset="0"/>
                <a:ea typeface="Calibri" pitchFamily="34" charset="-122"/>
                <a:cs typeface="Calibri" pitchFamily="34" charset="-120"/>
              </a:rPr>
              <a:t>electricity and gas prices, 2007 onwards</a:t>
            </a:r>
            <a:endParaRPr lang="en-US" sz="1100" dirty="0"/>
          </a:p>
        </p:txBody>
      </p:sp>
      <p:sp>
        <p:nvSpPr>
          <p:cNvPr id="8" name="Shape 6"/>
          <p:cNvSpPr/>
          <p:nvPr/>
        </p:nvSpPr>
        <p:spPr>
          <a:xfrm>
            <a:off x="4480560" y="1691640"/>
            <a:ext cx="3566160" cy="1325880"/>
          </a:xfrm>
          <a:prstGeom prst="roundRect">
            <a:avLst>
              <a:gd name="adj" fmla="val 5517"/>
            </a:avLst>
          </a:prstGeom>
          <a:solidFill>
            <a:srgbClr val="F2F5F8"/>
          </a:solidFill>
          <a:ln w="12700">
            <a:solidFill>
              <a:srgbClr val="DDE3E9"/>
            </a:solidFill>
            <a:prstDash val="solid"/>
          </a:ln>
        </p:spPr>
        <p:txBody>
          <a:bodyPr/>
          <a:p/>
        </p:txBody>
      </p:sp>
      <p:sp>
        <p:nvSpPr>
          <p:cNvPr id="9" name="Text 7"/>
          <p:cNvSpPr txBox="1"/>
          <p:nvPr/>
        </p:nvSpPr>
        <p:spPr>
          <a:xfrm>
            <a:off x="4709160" y="1828800"/>
            <a:ext cx="3108960" cy="274320"/>
          </a:xfrm>
          <a:prstGeom prst="rect">
            <a:avLst/>
          </a:prstGeom>
          <a:noFill/>
          <a:ln/>
        </p:spPr>
        <p:txBody>
          <a:bodyPr wrap="square" lIns="0" tIns="0" rIns="0" bIns="0" rtlCol="0" anchor="ctr"/>
          <a:lstStyle/>
          <a:p>
            <a:pPr indent="0" marL="0">
              <a:buNone/>
            </a:pPr>
            <a:r>
              <a:rPr lang="en-US" sz="1150" dirty="0">
                <a:solidFill>
                  <a:srgbClr val="43525F"/>
                </a:solidFill>
                <a:latin typeface="Calibri" pitchFamily="34" charset="0"/>
                <a:ea typeface="Calibri" pitchFamily="34" charset="-122"/>
                <a:cs typeface="Calibri" pitchFamily="34" charset="-120"/>
              </a:rPr>
              <a:t>COMPONENT RECONCILIATION</a:t>
            </a:r>
            <a:endParaRPr lang="en-US" sz="1150" dirty="0"/>
          </a:p>
        </p:txBody>
      </p:sp>
      <p:sp>
        <p:nvSpPr>
          <p:cNvPr id="10" name="Text 8"/>
          <p:cNvSpPr txBox="1"/>
          <p:nvPr/>
        </p:nvSpPr>
        <p:spPr>
          <a:xfrm>
            <a:off x="4709160" y="2121408"/>
            <a:ext cx="3108960" cy="502920"/>
          </a:xfrm>
          <a:prstGeom prst="rect">
            <a:avLst/>
          </a:prstGeom>
          <a:noFill/>
          <a:ln/>
        </p:spPr>
        <p:txBody>
          <a:bodyPr wrap="square" lIns="0" tIns="0" rIns="0" bIns="0" rtlCol="0" anchor="ctr"/>
          <a:lstStyle/>
          <a:p>
            <a:pPr indent="0" marL="0">
              <a:buNone/>
            </a:pPr>
            <a:r>
              <a:rPr lang="en-US" sz="2400" b="1" dirty="0">
                <a:solidFill>
                  <a:srgbClr val="2A78D6"/>
                </a:solidFill>
                <a:latin typeface="Cambria" pitchFamily="34" charset="0"/>
                <a:ea typeface="Cambria" pitchFamily="34" charset="-122"/>
                <a:cs typeface="Cambria" pitchFamily="34" charset="-120"/>
              </a:rPr>
              <a:t>0.8%</a:t>
            </a:r>
            <a:endParaRPr lang="en-US" sz="2400" dirty="0"/>
          </a:p>
        </p:txBody>
      </p:sp>
      <p:sp>
        <p:nvSpPr>
          <p:cNvPr id="11" name="Text 9"/>
          <p:cNvSpPr txBox="1"/>
          <p:nvPr/>
        </p:nvSpPr>
        <p:spPr>
          <a:xfrm>
            <a:off x="4709160" y="2615184"/>
            <a:ext cx="3108960" cy="320040"/>
          </a:xfrm>
          <a:prstGeom prst="rect">
            <a:avLst/>
          </a:prstGeom>
          <a:noFill/>
          <a:ln/>
        </p:spPr>
        <p:txBody>
          <a:bodyPr wrap="square" lIns="0" tIns="0" rIns="0" bIns="0" rtlCol="0" anchor="ctr"/>
          <a:lstStyle/>
          <a:p>
            <a:pPr indent="0" marL="0">
              <a:buNone/>
            </a:pPr>
            <a:r>
              <a:rPr lang="en-US" sz="1100" dirty="0">
                <a:solidFill>
                  <a:srgbClr val="43525F"/>
                </a:solidFill>
                <a:latin typeface="Calibri" pitchFamily="34" charset="0"/>
                <a:ea typeface="Calibri" pitchFamily="34" charset="-122"/>
                <a:cs typeface="Calibri" pitchFamily="34" charset="-120"/>
              </a:rPr>
              <a:t>median gap between components and the headline series</a:t>
            </a:r>
            <a:endParaRPr lang="en-US" sz="1100" dirty="0"/>
          </a:p>
        </p:txBody>
      </p:sp>
      <p:sp>
        <p:nvSpPr>
          <p:cNvPr id="12" name="Shape 10"/>
          <p:cNvSpPr/>
          <p:nvPr/>
        </p:nvSpPr>
        <p:spPr>
          <a:xfrm>
            <a:off x="8321040" y="1691640"/>
            <a:ext cx="3566160" cy="1325880"/>
          </a:xfrm>
          <a:prstGeom prst="roundRect">
            <a:avLst>
              <a:gd name="adj" fmla="val 5517"/>
            </a:avLst>
          </a:prstGeom>
          <a:solidFill>
            <a:srgbClr val="F2F5F8"/>
          </a:solidFill>
          <a:ln w="12700">
            <a:solidFill>
              <a:srgbClr val="DDE3E9"/>
            </a:solidFill>
            <a:prstDash val="solid"/>
          </a:ln>
        </p:spPr>
        <p:txBody>
          <a:bodyPr/>
          <a:p/>
        </p:txBody>
      </p:sp>
      <p:sp>
        <p:nvSpPr>
          <p:cNvPr id="13" name="Text 11"/>
          <p:cNvSpPr txBox="1"/>
          <p:nvPr/>
        </p:nvSpPr>
        <p:spPr>
          <a:xfrm>
            <a:off x="8549640" y="1828800"/>
            <a:ext cx="3108960" cy="274320"/>
          </a:xfrm>
          <a:prstGeom prst="rect">
            <a:avLst/>
          </a:prstGeom>
          <a:noFill/>
          <a:ln/>
        </p:spPr>
        <p:txBody>
          <a:bodyPr wrap="square" lIns="0" tIns="0" rIns="0" bIns="0" rtlCol="0" anchor="ctr"/>
          <a:lstStyle/>
          <a:p>
            <a:pPr indent="0" marL="0">
              <a:buNone/>
            </a:pPr>
            <a:r>
              <a:rPr lang="en-US" sz="1150" dirty="0">
                <a:solidFill>
                  <a:srgbClr val="43525F"/>
                </a:solidFill>
                <a:latin typeface="Calibri" pitchFamily="34" charset="0"/>
                <a:ea typeface="Calibri" pitchFamily="34" charset="-122"/>
                <a:cs typeface="Calibri" pitchFamily="34" charset="-120"/>
              </a:rPr>
              <a:t>IF THAT CHECK IS SKIPPED</a:t>
            </a:r>
            <a:endParaRPr lang="en-US" sz="1150" dirty="0"/>
          </a:p>
        </p:txBody>
      </p:sp>
      <p:sp>
        <p:nvSpPr>
          <p:cNvPr id="14" name="Text 12"/>
          <p:cNvSpPr txBox="1"/>
          <p:nvPr/>
        </p:nvSpPr>
        <p:spPr>
          <a:xfrm>
            <a:off x="8549640" y="2121408"/>
            <a:ext cx="3108960" cy="502920"/>
          </a:xfrm>
          <a:prstGeom prst="rect">
            <a:avLst/>
          </a:prstGeom>
          <a:noFill/>
          <a:ln/>
        </p:spPr>
        <p:txBody>
          <a:bodyPr wrap="square" lIns="0" tIns="0" rIns="0" bIns="0" rtlCol="0" anchor="ctr"/>
          <a:lstStyle/>
          <a:p>
            <a:pPr indent="0" marL="0">
              <a:buNone/>
            </a:pPr>
            <a:r>
              <a:rPr lang="en-US" sz="2400" b="1" dirty="0">
                <a:solidFill>
                  <a:srgbClr val="2A78D6"/>
                </a:solidFill>
                <a:latin typeface="Cambria" pitchFamily="34" charset="0"/>
                <a:ea typeface="Cambria" pitchFamily="34" charset="-122"/>
                <a:cs typeface="Cambria" pitchFamily="34" charset="-120"/>
              </a:rPr>
              <a:t>21%</a:t>
            </a:r>
            <a:endParaRPr lang="en-US" sz="2400" dirty="0"/>
          </a:p>
        </p:txBody>
      </p:sp>
      <p:sp>
        <p:nvSpPr>
          <p:cNvPr id="15" name="Text 13"/>
          <p:cNvSpPr txBox="1"/>
          <p:nvPr/>
        </p:nvSpPr>
        <p:spPr>
          <a:xfrm>
            <a:off x="8549640" y="2615184"/>
            <a:ext cx="3108960" cy="320040"/>
          </a:xfrm>
          <a:prstGeom prst="rect">
            <a:avLst/>
          </a:prstGeom>
          <a:noFill/>
          <a:ln/>
        </p:spPr>
        <p:txBody>
          <a:bodyPr wrap="square" lIns="0" tIns="0" rIns="0" bIns="0" rtlCol="0" anchor="ctr"/>
          <a:lstStyle/>
          <a:p>
            <a:pPr indent="0" marL="0">
              <a:buNone/>
            </a:pPr>
            <a:r>
              <a:rPr lang="en-US" sz="1100" dirty="0">
                <a:solidFill>
                  <a:srgbClr val="43525F"/>
                </a:solidFill>
                <a:latin typeface="Calibri" pitchFamily="34" charset="0"/>
                <a:ea typeface="Calibri" pitchFamily="34" charset="-122"/>
                <a:cs typeface="Calibri" pitchFamily="34" charset="-120"/>
              </a:rPr>
              <a:t>how far the naive component sum overstates the price</a:t>
            </a:r>
            <a:endParaRPr lang="en-US" sz="1100" dirty="0"/>
          </a:p>
        </p:txBody>
      </p:sp>
      <p:sp>
        <p:nvSpPr>
          <p:cNvPr id="16" name="Text 14"/>
          <p:cNvSpPr txBox="1"/>
          <p:nvPr/>
        </p:nvSpPr>
        <p:spPr>
          <a:xfrm>
            <a:off x="640080" y="3291840"/>
            <a:ext cx="5120640" cy="274320"/>
          </a:xfrm>
          <a:prstGeom prst="rect">
            <a:avLst/>
          </a:prstGeom>
          <a:noFill/>
          <a:ln/>
        </p:spPr>
        <p:txBody>
          <a:bodyPr wrap="square" lIns="0" tIns="0" rIns="0" bIns="0" rtlCol="0" anchor="ctr"/>
          <a:lstStyle/>
          <a:p>
            <a:pPr indent="0" marL="0">
              <a:buNone/>
            </a:pPr>
            <a:r>
              <a:rPr lang="en-US" sz="1150" b="1" dirty="0">
                <a:solidFill>
                  <a:srgbClr val="43525F"/>
                </a:solidFill>
                <a:latin typeface="Calibri" pitchFamily="34" charset="0"/>
                <a:ea typeface="Calibri" pitchFamily="34" charset="-122"/>
                <a:cs typeface="Calibri" pitchFamily="34" charset="-120"/>
              </a:rPr>
              <a:t>HOW THE NUMBERS WERE CHECKED</a:t>
            </a:r>
            <a:endParaRPr lang="en-US" sz="1150" dirty="0"/>
          </a:p>
        </p:txBody>
      </p:sp>
      <p:sp>
        <p:nvSpPr>
          <p:cNvPr id="17" name="Text 15"/>
          <p:cNvSpPr txBox="1"/>
          <p:nvPr/>
        </p:nvSpPr>
        <p:spPr>
          <a:xfrm>
            <a:off x="640080" y="3611880"/>
            <a:ext cx="5120640" cy="2286000"/>
          </a:xfrm>
          <a:prstGeom prst="rect">
            <a:avLst/>
          </a:prstGeom>
          <a:noFill/>
          <a:ln/>
        </p:spPr>
        <p:txBody>
          <a:bodyPr wrap="square" lIns="0" tIns="0" rIns="0" bIns="0" rtlCol="0" anchor="t"/>
          <a:lstStyle/>
          <a:p>
            <a:pPr indent="0" marL="0">
              <a:buNone/>
            </a:pPr>
            <a:r>
              <a:rPr lang="en-US" sz="1300" dirty="0">
                <a:solidFill>
                  <a:srgbClr val="1A1A1A"/>
                </a:solidFill>
                <a:latin typeface="Calibri" pitchFamily="34" charset="0"/>
                <a:ea typeface="Calibri" pitchFamily="34" charset="-122"/>
                <a:cs typeface="Calibri" pitchFamily="34" charset="-120"/>
              </a:rPr>
              <a:t>•  Prices exclude VAT: VAT is recoverable for a business, so the VAT-inclusive series overstates what a company pays.
•  The component breakdown is annual, the price series half-yearly; the two were reconciled before anything was built on them.
•  Eurostat's tax total already contains VAT. Subtracting it is the difference between a 0.8% and a 21% error.
•  Raw API responses are cached in the repository, so the numbers are reproducible even after Eurostat revises a series.</a:t>
            </a:r>
            <a:endParaRPr lang="en-US" sz="1300" dirty="0"/>
          </a:p>
        </p:txBody>
      </p:sp>
      <p:sp>
        <p:nvSpPr>
          <p:cNvPr id="18" name="Text 16"/>
          <p:cNvSpPr txBox="1"/>
          <p:nvPr/>
        </p:nvSpPr>
        <p:spPr>
          <a:xfrm>
            <a:off x="6035040" y="3291840"/>
            <a:ext cx="5120640" cy="274320"/>
          </a:xfrm>
          <a:prstGeom prst="rect">
            <a:avLst/>
          </a:prstGeom>
          <a:noFill/>
          <a:ln/>
        </p:spPr>
        <p:txBody>
          <a:bodyPr wrap="square" lIns="0" tIns="0" rIns="0" bIns="0" rtlCol="0" anchor="ctr"/>
          <a:lstStyle/>
          <a:p>
            <a:pPr indent="0" marL="0">
              <a:buNone/>
            </a:pPr>
            <a:r>
              <a:rPr lang="en-US" sz="1150" b="1" dirty="0">
                <a:solidFill>
                  <a:srgbClr val="43525F"/>
                </a:solidFill>
                <a:latin typeface="Calibri" pitchFamily="34" charset="0"/>
                <a:ea typeface="Calibri" pitchFamily="34" charset="-122"/>
                <a:cs typeface="Calibri" pitchFamily="34" charset="-120"/>
              </a:rPr>
              <a:t>WHAT THIS ANALYSIS CANNOT TELL YOU</a:t>
            </a:r>
            <a:endParaRPr lang="en-US" sz="1150" dirty="0"/>
          </a:p>
        </p:txBody>
      </p:sp>
      <p:sp>
        <p:nvSpPr>
          <p:cNvPr id="19" name="Text 17"/>
          <p:cNvSpPr txBox="1"/>
          <p:nvPr/>
        </p:nvSpPr>
        <p:spPr>
          <a:xfrm>
            <a:off x="6035040" y="3611880"/>
            <a:ext cx="5120640" cy="2286000"/>
          </a:xfrm>
          <a:prstGeom prst="rect">
            <a:avLst/>
          </a:prstGeom>
          <a:noFill/>
          <a:ln/>
        </p:spPr>
        <p:txBody>
          <a:bodyPr wrap="square" lIns="0" tIns="0" rIns="0" bIns="0" rtlCol="0" anchor="t"/>
          <a:lstStyle/>
          <a:p>
            <a:pPr indent="0" marL="0">
              <a:buNone/>
            </a:pPr>
            <a:r>
              <a:rPr lang="en-US" sz="1300" dirty="0">
                <a:solidFill>
                  <a:srgbClr val="1A1A1A"/>
                </a:solidFill>
                <a:latin typeface="Calibri" pitchFamily="34" charset="0"/>
                <a:ea typeface="Calibri" pitchFamily="34" charset="-122"/>
                <a:cs typeface="Calibri" pitchFamily="34" charset="-120"/>
              </a:rPr>
              <a:t>•  These are national averages. An individual contract depends on the load profile, the hedging strategy and the date it was signed.
•  Band boundaries are consumption-based, so a country's mix of industry affects its average within a band.
•  Czechia does not report the &gt;= 150 000 MWh band, so size comparisons stop at 70 000-149 999 MWh — the largest band every country publishes.
•  Half-yearly data cannot show what a spot-exposed customer paid in a particular month.
•  Nothing here says what any supplier's margin is; the commodity share is what a supplier prices, not what it earns.</a:t>
            </a:r>
            <a:endParaRPr lang="en-US" sz="1300" dirty="0"/>
          </a:p>
        </p:txBody>
      </p:sp>
      <p:sp>
        <p:nvSpPr>
          <p:cNvPr id="20" name="Text 18"/>
          <p:cNvSpPr txBox="1"/>
          <p:nvPr/>
        </p:nvSpPr>
        <p:spPr>
          <a:xfrm>
            <a:off x="640080" y="6400800"/>
            <a:ext cx="9144000" cy="274320"/>
          </a:xfrm>
          <a:prstGeom prst="rect">
            <a:avLst/>
          </a:prstGeom>
          <a:noFill/>
          <a:ln/>
        </p:spPr>
        <p:txBody>
          <a:bodyPr wrap="square" lIns="0" tIns="0" rIns="0" bIns="0" rtlCol="0" anchor="ctr"/>
          <a:lstStyle/>
          <a:p>
            <a:pPr indent="0" marL="0">
              <a:buNone/>
            </a:pPr>
            <a:r>
              <a:rPr lang="en-US" sz="1050" dirty="0">
                <a:solidFill>
                  <a:srgbClr val="43525F"/>
                </a:solidFill>
                <a:latin typeface="Calibri" pitchFamily="34" charset="0"/>
                <a:ea typeface="Calibri" pitchFamily="34" charset="-122"/>
                <a:cs typeface="Calibri" pitchFamily="34" charset="-120"/>
              </a:rPr>
              <a:t>Source: Eurostat  |  2025-S2  |  Non-household consumers, excluding VAT</a:t>
            </a:r>
            <a:endParaRPr lang="en-US" sz="1050" dirty="0"/>
          </a:p>
        </p:txBody>
      </p:sp>
      <p:sp>
        <p:nvSpPr>
          <p:cNvPr id="21" name="Text 19"/>
          <p:cNvSpPr txBox="1"/>
          <p:nvPr/>
        </p:nvSpPr>
        <p:spPr>
          <a:xfrm>
            <a:off x="10972800" y="6400800"/>
            <a:ext cx="548640" cy="274320"/>
          </a:xfrm>
          <a:prstGeom prst="rect">
            <a:avLst/>
          </a:prstGeom>
          <a:noFill/>
          <a:ln/>
        </p:spPr>
        <p:txBody>
          <a:bodyPr wrap="square" lIns="0" tIns="0" rIns="0" bIns="0" rtlCol="0" anchor="ctr"/>
          <a:lstStyle/>
          <a:p>
            <a:pPr algn="r" indent="0" marL="0">
              <a:buNone/>
            </a:pPr>
            <a:r>
              <a:rPr lang="en-US" sz="1050" dirty="0">
                <a:solidFill>
                  <a:srgbClr val="43525F"/>
                </a:solidFill>
                <a:latin typeface="Calibri" pitchFamily="34" charset="0"/>
                <a:ea typeface="Calibri" pitchFamily="34" charset="-122"/>
                <a:cs typeface="Calibri" pitchFamily="34" charset="-120"/>
              </a:rPr>
              <a:t>8</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Industrial energy price benchmark</dc:title>
  <dc:subject>PptxGenJS Presentation</dc:subject>
  <dc:creator>Market analysis</dc:creator>
  <cp:lastModifiedBy>Market analysis</cp:lastModifiedBy>
  <cp:revision>1</cp:revision>
  <dcterms:created xsi:type="dcterms:W3CDTF">2026-09-15T12:59:59Z</dcterms:created>
  <dcterms:modified xsi:type="dcterms:W3CDTF">2026-09-15T12:59:59Z</dcterms:modified>
</cp:coreProperties>
</file>